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15"/>
  </p:notesMasterIdLst>
  <p:sldIdLst>
    <p:sldId id="367" r:id="rId2"/>
    <p:sldId id="386" r:id="rId3"/>
    <p:sldId id="387" r:id="rId4"/>
    <p:sldId id="388" r:id="rId5"/>
    <p:sldId id="402" r:id="rId6"/>
    <p:sldId id="390" r:id="rId7"/>
    <p:sldId id="391" r:id="rId8"/>
    <p:sldId id="392" r:id="rId9"/>
    <p:sldId id="393" r:id="rId10"/>
    <p:sldId id="394" r:id="rId11"/>
    <p:sldId id="395" r:id="rId12"/>
    <p:sldId id="400" r:id="rId13"/>
    <p:sldId id="401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52"/>
    <p:restoredTop sz="94692"/>
  </p:normalViewPr>
  <p:slideViewPr>
    <p:cSldViewPr snapToGrid="0">
      <p:cViewPr varScale="1">
        <p:scale>
          <a:sx n="85" d="100"/>
          <a:sy n="85" d="100"/>
        </p:scale>
        <p:origin x="208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429168-844F-A046-862A-5871E1E5CAB3}" type="datetimeFigureOut">
              <a:rPr kumimoji="1" lang="zh-CN" altLang="en-US" smtClean="0"/>
              <a:t>2026/10/4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4B2E4-9ECD-D04D-AA3A-0F09BEAD8C4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7841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开场：今天这节课，我不讲大家已经很熟的东西——用豆包解题、用 AI 做 PPT，这些咱们班每周都有人在用，是大家都懂的技能。我想往前再走一步：怎么用 AI 来开发，怎么用 AI 来学习。这两件事其实是相辅相成的。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我自己最早接触这些，是小学想入门 C++，但说实话懒得学。那时候 GPT-3 刚出来，我觉得特别厉害，就在浏览器里把它写好的代码复制下来、粘贴进去用。这种"复制粘贴"的用法，几年前人人都会，太基础了。所以今天我不想停在这儿，想讲讲大多数人还没走到的下一步。不过在讲下一步之前，先说说我为什么会对这些东西感兴趣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从小就爱折腾电脑和网络。最让我着迷的，是同一个机房里的电脑为什么能互相"看见"、甚至互相传东西——后来才知道，这背后就是今天要讲的端口和内网。我也喜欢把软件拆开来看它到底怎么跑、在网络上收发什么。正是这股好奇心，把我带进了逆向工程和网络这些东西；今天讲的这些技术，就是从当年的瞎折腾，慢慢变成能真正拿来开发的本事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先给大家一个全景。我要讲的其实是两条线：一条是用 AI 学习，弄懂原理；另一条是用 AI 开发，把想法做出来。这两条线是互相喂养的。为了走通它们，需要补四项大多数人没接触过的技术：逆向工程、内网和外网、内网穿透、开源与 Harness。下面一个一个说。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先说内网。我从小就喜欢折腾电脑和网络。最直观的例子：我们联机玩 Minecraft，两台电脑之所以能互相发现，是因为都在同一个局域网里，各自开着一个端口，互相通过端口通信。学校的点名系统、内网答题也是这样——把网页开在内网，大家就能直接访问。我自己做的单词软件 WordSnap 也一样，它在浏览器里跑，我开发测试的环境同样是内网。所以内网的关键就一句话：在同一个网里，A 找 B 只要知道对方的 IP 和端口，数据根本不用绕互联网。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那什么是逆向工程？简单说，当你拿不到一个程序的源码，你可以通过观察它在端口、接口上收发什么数据，去反推它内部是怎么工作的——看不到图纸，就从门口的来往来判断。它有很多正当用途：调试自己的程序、看懂并修复没有源码的老软件、做安全研究找漏洞，还有做兼容插件。我自己就给 DeepSeek Harness 写过插件，挺好玩的。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内网很好，但有个限制：外面的人默认连不进来，路由器把外部挡在门外。内网穿透就是打一条隧道，让内网里的服务能从外网连上。用处很多：和朋友远程联机，我在家开一个 Minecraft 服务器，外地的同学也能进来；或者我出门在外，也能连回自己搭的 WordSnap 开发服务器。穿透不只是联机，任何内网服务都能这样放出去。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再往外一层。开发经常要用的工具很多在境外：GitHub、Claude 都在国外的服务器。GitHub 国内一般能直接访问；但 Claude 不行，必须走代理。所谓代理，就是在你和境外服务之间加一个中转，帮你把请求带出去、再把结果带回来。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代理可以从两个维度理解。第一是连接规则：是只让需要的流量走代理（虚拟网卡那种按需分流），还是所有流量都走代理（全局模式）。第二是节点类型，这个更关键：共享节点是很多人的流量汇聚到同一台服务器、同一个出口 IP 再发出去，千千万万个 IP 挤在一起，平台很容易识别、甚至封号；独享节点是你自己一台服务器架在境外，一根线进、一根线出，用的是私人 IP，流量不容易被检测。所以更稳的是独享。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前面提到 GitHub，这里专门说说。GitHub 就是全世界开发者公开、共享代码的地方。你能做三件事：把现成的开源项目下载下来直接用；读别人的源码，看高手怎么组织程序，比课本快；而且很多 AI 工具，包括待会要讲的 Harness，都是开源在上面的。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现在大部分人已经不只是复制粘贴了。开发者调试代码也不会手动复制来复制去，他们用一个叫 Harness 的东西，让 AI 直接读写你的项目、运行命令、看报错自己改。我推荐两个，都是官方出的、对自家模型适配最好：一个是 Claude Code，一个是 DeepSeek Harness。Claude 的模型代表前沿，我会用它做 PPT、做动画、做 3D、写复杂程序，这份 PPT 就是我让它做的，要求要生动、不能全是字；但 Claude 很贵，还要配代理，综合成本高。DeepSeek 不一样，它是性价比之王，这个价位体验最好，顶尖智能虽然比不过，但日常学习和开发完全够用，而且免代理。DeepSeek Harness 是基于插件做的，我自己也编过插件。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这张是我做这份课件当晚的真实屏幕。右下角 DeepSeek Harness 正在自己构建 WordSnap 的插件版本；左下角 Claude 已经提示额度用完，要等几个小时才能重置；右上角豆包在浏览器里帮我完成授权。正式开发就是这样：同时开几个 AI，各干各的活，我负责下指令和检查结果。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最后收个尾。用 AI 学习帮你弄懂原理，用 AI 开发帮你把东西做出来，两条线合成一条路。会开发，AI 才真正开始替你做事——这才是比复制粘贴更值得练的本事。课后给大家留一步：挑一个你想做的小东西，一个网页、一个小工具，用 DeepSeek Harness 试着从零做出来。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4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721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553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707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949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510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314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364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00" y="558800"/>
            <a:ext cx="11150600" cy="711200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199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 spc="0">
          <a:solidFill>
            <a:srgbClr val="11111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000" kern="1200" spc="160">
          <a:solidFill>
            <a:srgbClr val="11111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160">
          <a:solidFill>
            <a:srgbClr val="11111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160">
          <a:solidFill>
            <a:srgbClr val="11111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rgbClr val="11111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rgbClr val="11111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1111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1111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1111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1111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1" dirty="0">
                <a:solidFill>
                  <a:srgbClr val="111111"/>
                </a:solidFill>
              </a:rPr>
              <a:t>AI 开发入门</a:t>
            </a:r>
            <a:r>
              <a:rPr lang="zh-CN" altLang="en-US" sz="1100" b="0" dirty="0">
                <a:solidFill>
                  <a:srgbClr val="4F4C47"/>
                </a:solidFill>
              </a:rPr>
              <a:t>　讲义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7772400" y="304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1" dirty="0">
                <a:solidFill>
                  <a:srgbClr val="111111"/>
                </a:solidFill>
              </a:rPr>
              <a:t>第一课</a:t>
            </a:r>
          </a:p>
        </p:txBody>
      </p:sp>
      <p:cxnSp>
        <p:nvCxnSpPr>
          <p:cNvPr id="4" name="Line 4"/>
          <p:cNvCxnSpPr/>
          <p:nvPr/>
        </p:nvCxnSpPr>
        <p:spPr>
          <a:xfrm>
            <a:off x="609600" y="584200"/>
            <a:ext cx="10972800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5" name="Lesson Number"/>
          <p:cNvSpPr txBox="1"/>
          <p:nvPr/>
        </p:nvSpPr>
        <p:spPr>
          <a:xfrm>
            <a:off x="7112000" y="508000"/>
            <a:ext cx="4470400" cy="431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0" b="1" spc="-1500" dirty="0">
                <a:solidFill>
                  <a:srgbClr val="C9260A"/>
                </a:solidFill>
              </a:rPr>
              <a:t>01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09600" y="1752600"/>
            <a:ext cx="609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dirty="0">
                <a:solidFill>
                  <a:srgbClr val="C9260A"/>
                </a:solidFill>
              </a:rPr>
              <a:t>第一课 · AI 开发入门</a:t>
            </a:r>
          </a:p>
        </p:txBody>
      </p:sp>
      <p:sp>
        <p:nvSpPr>
          <p:cNvPr id="7" name="Title"/>
          <p:cNvSpPr>
            <a:spLocks noGrp="1"/>
          </p:cNvSpPr>
          <p:nvPr>
            <p:ph type="title"/>
          </p:nvPr>
        </p:nvSpPr>
        <p:spPr>
          <a:xfrm>
            <a:off x="609600" y="2133600"/>
            <a:ext cx="7620000" cy="25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7200" b="1" dirty="0">
                <a:solidFill>
                  <a:srgbClr val="111111"/>
                </a:solidFill>
              </a:rPr>
              <a:t>不止复制粘贴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7200" b="1" dirty="0">
                <a:solidFill>
                  <a:srgbClr val="C9260A"/>
                </a:solidFill>
              </a:rPr>
              <a:t>用 AI 开发</a:t>
            </a:r>
          </a:p>
        </p:txBody>
      </p:sp>
      <p:cxnSp>
        <p:nvCxnSpPr>
          <p:cNvPr id="8" name="Line 8"/>
          <p:cNvCxnSpPr/>
          <p:nvPr/>
        </p:nvCxnSpPr>
        <p:spPr>
          <a:xfrm>
            <a:off x="609600" y="5130800"/>
            <a:ext cx="10972800" cy="0"/>
          </a:xfrm>
          <a:prstGeom prst="line">
            <a:avLst/>
          </a:prstGeom>
          <a:ln w="19050">
            <a:solidFill>
              <a:srgbClr val="111111"/>
            </a:solidFill>
          </a:ln>
        </p:spPr>
      </p:cxnSp>
      <p:sp>
        <p:nvSpPr>
          <p:cNvPr id="9" name="Text 9"/>
          <p:cNvSpPr txBox="1"/>
          <p:nvPr/>
        </p:nvSpPr>
        <p:spPr>
          <a:xfrm>
            <a:off x="609600" y="5308600"/>
            <a:ext cx="330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zh-CN" altLang="en-US" sz="1400" b="0" dirty="0">
                <a:solidFill>
                  <a:srgbClr val="4F4C47"/>
                </a:solidFill>
              </a:rPr>
              <a:t>主题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1" dirty="0">
                <a:solidFill>
                  <a:srgbClr val="111111"/>
                </a:solidFill>
              </a:rPr>
              <a:t>从一段小学经历，讲到前沿开发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4165600" y="5308600"/>
            <a:ext cx="279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zh-CN" altLang="en-US" sz="1400" b="0" dirty="0">
                <a:solidFill>
                  <a:srgbClr val="4F4C47"/>
                </a:solidFill>
              </a:rPr>
              <a:t>两条主线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1" dirty="0">
                <a:solidFill>
                  <a:srgbClr val="111111"/>
                </a:solidFill>
              </a:rPr>
              <a:t>用 AI 学习 · 用 AI 开发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7213600" y="5308600"/>
            <a:ext cx="48768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zh-CN" altLang="en-US" sz="1400" b="0" dirty="0">
                <a:solidFill>
                  <a:srgbClr val="4F4C47"/>
                </a:solidFill>
              </a:rPr>
              <a:t>四项技术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1" dirty="0">
                <a:solidFill>
                  <a:srgbClr val="111111"/>
                </a:solidFill>
              </a:rPr>
              <a:t>逆向工程 · 内网 · 内网穿透 · 开源与 Harness</a:t>
            </a:r>
          </a:p>
        </p:txBody>
      </p:sp>
    </p:spTree>
    <p:extLst>
      <p:ext uri="{BB962C8B-B14F-4D97-AF65-F5344CB8AC3E}">
        <p14:creationId xmlns:p14="http://schemas.microsoft.com/office/powerpoint/2010/main" val="3189841785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1" dirty="0">
                <a:solidFill>
                  <a:srgbClr val="111111"/>
                </a:solidFill>
              </a:rPr>
              <a:t>AI 开发入门</a:t>
            </a:r>
            <a:r>
              <a:rPr lang="zh-CN" altLang="en-US" sz="1100" b="0" dirty="0">
                <a:solidFill>
                  <a:srgbClr val="4F4C47"/>
                </a:solidFill>
              </a:rPr>
              <a:t>　第一课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7772400" y="304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1" dirty="0">
                <a:solidFill>
                  <a:srgbClr val="111111"/>
                </a:solidFill>
              </a:rPr>
              <a:t>02</a:t>
            </a:r>
            <a:r>
              <a:rPr lang="zh-CN" altLang="en-US" sz="1100" b="0" dirty="0">
                <a:solidFill>
                  <a:srgbClr val="4F4C47"/>
                </a:solidFill>
              </a:rPr>
              <a:t> / 13</a:t>
            </a:r>
          </a:p>
        </p:txBody>
      </p:sp>
      <p:cxnSp>
        <p:nvCxnSpPr>
          <p:cNvPr id="4" name="Line 4"/>
          <p:cNvCxnSpPr/>
          <p:nvPr/>
        </p:nvCxnSpPr>
        <p:spPr>
          <a:xfrm>
            <a:off x="609600" y="584200"/>
            <a:ext cx="10972800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09600" y="8382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dirty="0">
                <a:solidFill>
                  <a:srgbClr val="C9260A"/>
                </a:solidFill>
              </a:rPr>
              <a:t>02　我的起点</a:t>
            </a:r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600" b="1" dirty="0">
                <a:solidFill>
                  <a:srgbClr val="111111"/>
                </a:solidFill>
              </a:rPr>
              <a:t>懒得学 C++，就让 GPT 替我写</a:t>
            </a:r>
          </a:p>
        </p:txBody>
      </p:sp>
      <p:sp>
        <p:nvSpPr>
          <p:cNvPr id="7" name="Code Panel"/>
          <p:cNvSpPr txBox="1"/>
          <p:nvPr/>
        </p:nvSpPr>
        <p:spPr>
          <a:xfrm>
            <a:off x="609600" y="2184400"/>
            <a:ext cx="6604000" cy="4013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zh-CN" sz="1000" dirty="0"/>
          </a:p>
        </p:txBody>
      </p:sp>
      <p:sp>
        <p:nvSpPr>
          <p:cNvPr id="8" name="Text 8"/>
          <p:cNvSpPr txBox="1"/>
          <p:nvPr/>
        </p:nvSpPr>
        <p:spPr>
          <a:xfrm>
            <a:off x="863600" y="2362200"/>
            <a:ext cx="609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dirty="0">
                <a:solidFill>
                  <a:srgbClr val="C4BFB3"/>
                </a:solidFill>
                <a:latin typeface="Consolas"/>
                <a:ea typeface="Microsoft YaHei"/>
              </a:rPr>
              <a:t>chat — GPT-3 · 2022</a:t>
            </a:r>
          </a:p>
        </p:txBody>
      </p:sp>
      <p:cxnSp>
        <p:nvCxnSpPr>
          <p:cNvPr id="9" name="Line 9"/>
          <p:cNvCxnSpPr/>
          <p:nvPr/>
        </p:nvCxnSpPr>
        <p:spPr>
          <a:xfrm>
            <a:off x="609600" y="2717800"/>
            <a:ext cx="6604000" cy="0"/>
          </a:xfrm>
          <a:prstGeom prst="line">
            <a:avLst/>
          </a:prstGeom>
          <a:ln w="9525">
            <a:solidFill>
              <a:srgbClr val="3A3835"/>
            </a:solidFill>
          </a:ln>
        </p:spPr>
      </p:cxnSp>
      <p:sp>
        <p:nvSpPr>
          <p:cNvPr id="10" name="Text 10"/>
          <p:cNvSpPr txBox="1"/>
          <p:nvPr/>
        </p:nvSpPr>
        <p:spPr>
          <a:xfrm>
            <a:off x="863600" y="2895600"/>
            <a:ext cx="609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1" dirty="0">
                <a:solidFill>
                  <a:srgbClr val="F25A3C"/>
                </a:solidFill>
              </a:rPr>
              <a:t>我：</a:t>
            </a:r>
            <a:r>
              <a:rPr lang="zh-CN" altLang="en-US" sz="1600" b="1" dirty="0">
                <a:solidFill>
                  <a:srgbClr val="F2EFE8"/>
                </a:solidFill>
              </a:rPr>
              <a:t>帮我写个 C++ 冒泡排序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63600" y="3403600"/>
            <a:ext cx="6096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0" dirty="0">
                <a:solidFill>
                  <a:srgbClr val="E4DFD4"/>
                </a:solidFill>
                <a:latin typeface="Consolas"/>
                <a:ea typeface="Microsoft YaHei"/>
              </a:rPr>
              <a:t>void sort(int a[], int n){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0" dirty="0">
                <a:solidFill>
                  <a:srgbClr val="E4DFD4"/>
                </a:solidFill>
                <a:latin typeface="Consolas"/>
                <a:ea typeface="Microsoft YaHei"/>
              </a:rPr>
              <a:t>  for(int i=0;i&lt;n;i++)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0" dirty="0">
                <a:solidFill>
                  <a:srgbClr val="E4DFD4"/>
                </a:solidFill>
                <a:latin typeface="Consolas"/>
                <a:ea typeface="Microsoft YaHei"/>
              </a:rPr>
              <a:t>    for(int j=0;j&lt;n-1-i;j++)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0" dirty="0">
                <a:solidFill>
                  <a:srgbClr val="E4DFD4"/>
                </a:solidFill>
                <a:latin typeface="Consolas"/>
                <a:ea typeface="Microsoft YaHei"/>
              </a:rPr>
              <a:t>      if(a[j]&gt;a[j+1]) swap(a[j],a[j+1]);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0" dirty="0">
                <a:solidFill>
                  <a:srgbClr val="E4DFD4"/>
                </a:solidFill>
                <a:latin typeface="Consolas"/>
                <a:ea typeface="Microsoft YaHei"/>
              </a:rPr>
              <a:t>}</a:t>
            </a:r>
          </a:p>
        </p:txBody>
      </p:sp>
      <p:cxnSp>
        <p:nvCxnSpPr>
          <p:cNvPr id="12" name="Line 12"/>
          <p:cNvCxnSpPr/>
          <p:nvPr/>
        </p:nvCxnSpPr>
        <p:spPr>
          <a:xfrm>
            <a:off x="609600" y="5486400"/>
            <a:ext cx="6604000" cy="0"/>
          </a:xfrm>
          <a:prstGeom prst="line">
            <a:avLst/>
          </a:prstGeom>
          <a:ln w="9525">
            <a:solidFill>
              <a:srgbClr val="3A3835"/>
            </a:solidFill>
          </a:ln>
        </p:spPr>
      </p:cxnSp>
      <p:sp>
        <p:nvSpPr>
          <p:cNvPr id="13" name="Text 13"/>
          <p:cNvSpPr txBox="1"/>
          <p:nvPr/>
        </p:nvSpPr>
        <p:spPr>
          <a:xfrm>
            <a:off x="863600" y="5664200"/>
            <a:ext cx="609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dirty="0">
                <a:solidFill>
                  <a:srgbClr val="F25A3C"/>
                </a:solidFill>
              </a:rPr>
              <a:t>→ 全选 · 复制 · 粘到编辑器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7721600" y="2184400"/>
            <a:ext cx="38608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1" dirty="0">
                <a:solidFill>
                  <a:srgbClr val="111111"/>
                </a:solidFill>
              </a:rPr>
              <a:t>那是 GPT-3 时代的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1" dirty="0">
                <a:solidFill>
                  <a:srgbClr val="C9260A"/>
                </a:solidFill>
              </a:rPr>
              <a:t>复制粘贴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7721600" y="3479800"/>
            <a:ext cx="38608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0" dirty="0">
                <a:solidFill>
                  <a:srgbClr val="4F4C47"/>
                </a:solidFill>
              </a:rPr>
              <a:t>浏览器里复制代码，粘到编辑器——几年前，人人都会。</a:t>
            </a:r>
          </a:p>
        </p:txBody>
      </p:sp>
      <p:cxnSp>
        <p:nvCxnSpPr>
          <p:cNvPr id="16" name="Line 16"/>
          <p:cNvCxnSpPr/>
          <p:nvPr/>
        </p:nvCxnSpPr>
        <p:spPr>
          <a:xfrm>
            <a:off x="7721600" y="4724400"/>
            <a:ext cx="3860800" cy="0"/>
          </a:xfrm>
          <a:prstGeom prst="line">
            <a:avLst/>
          </a:prstGeom>
          <a:ln w="19050">
            <a:solidFill>
              <a:srgbClr val="111111"/>
            </a:solidFill>
          </a:ln>
        </p:spPr>
      </p:cxnSp>
      <p:sp>
        <p:nvSpPr>
          <p:cNvPr id="17" name="Text 17"/>
          <p:cNvSpPr txBox="1"/>
          <p:nvPr/>
        </p:nvSpPr>
        <p:spPr>
          <a:xfrm>
            <a:off x="7721600" y="4927600"/>
            <a:ext cx="38608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111111"/>
                </a:solidFill>
              </a:rPr>
              <a:t>今天要讲的，是大多数人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111111"/>
                </a:solidFill>
              </a:rPr>
              <a:t>还没走到的</a:t>
            </a:r>
            <a:r>
              <a:rPr lang="zh-CN" altLang="en-US" sz="2000" b="1" dirty="0">
                <a:solidFill>
                  <a:srgbClr val="C9260A"/>
                </a:solidFill>
              </a:rPr>
              <a:t>下一步</a:t>
            </a:r>
          </a:p>
        </p:txBody>
      </p:sp>
    </p:spTree>
    <p:extLst>
      <p:ext uri="{BB962C8B-B14F-4D97-AF65-F5344CB8AC3E}">
        <p14:creationId xmlns:p14="http://schemas.microsoft.com/office/powerpoint/2010/main" val="3499308489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00" b="1" dirty="0">
                <a:solidFill>
                  <a:srgbClr val="111111"/>
                </a:solidFill>
              </a:rPr>
              <a:t>AI 开发入门</a:t>
            </a:r>
            <a:r>
              <a:rPr lang="zh-CN" altLang="en-US" sz="1100" b="0" dirty="0">
                <a:solidFill>
                  <a:srgbClr val="4F4C47"/>
                </a:solidFill>
              </a:rPr>
              <a:t>　第一课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7772400" y="304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00" b="1" dirty="0">
                <a:solidFill>
                  <a:srgbClr val="111111"/>
                </a:solidFill>
              </a:rPr>
              <a:t>03</a:t>
            </a:r>
            <a:r>
              <a:rPr lang="zh-CN" altLang="en-US" sz="1100" b="0" dirty="0">
                <a:solidFill>
                  <a:srgbClr val="4F4C47"/>
                </a:solidFill>
              </a:rPr>
              <a:t> / 13</a:t>
            </a:r>
          </a:p>
        </p:txBody>
      </p:sp>
      <p:cxnSp>
        <p:nvCxnSpPr>
          <p:cNvPr id="4" name="Line 4"/>
          <p:cNvCxnSpPr/>
          <p:nvPr/>
        </p:nvCxnSpPr>
        <p:spPr>
          <a:xfrm>
            <a:off x="609600" y="584200"/>
            <a:ext cx="10972800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09600" y="8382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400" b="1" dirty="0">
                <a:solidFill>
                  <a:srgbClr val="C9260A"/>
                </a:solidFill>
              </a:rPr>
              <a:t>03　好奇心</a:t>
            </a:r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3400" b="1" dirty="0">
                <a:solidFill>
                  <a:srgbClr val="111111"/>
                </a:solidFill>
              </a:rPr>
              <a:t>两个小时候的问题，把我带进了网络和逆向</a:t>
            </a:r>
          </a:p>
        </p:txBody>
      </p:sp>
      <p:cxnSp>
        <p:nvCxnSpPr>
          <p:cNvPr id="7" name="Line 7"/>
          <p:cNvCxnSpPr/>
          <p:nvPr/>
        </p:nvCxnSpPr>
        <p:spPr>
          <a:xfrm>
            <a:off x="609600" y="2235200"/>
            <a:ext cx="10972800" cy="0"/>
          </a:xfrm>
          <a:prstGeom prst="line">
            <a:avLst/>
          </a:prstGeom>
          <a:ln w="38100">
            <a:solidFill>
              <a:srgbClr val="111111"/>
            </a:solidFill>
          </a:ln>
        </p:spPr>
      </p:cxnSp>
      <p:sp>
        <p:nvSpPr>
          <p:cNvPr id="8" name="Text 8"/>
          <p:cNvSpPr txBox="1"/>
          <p:nvPr/>
        </p:nvSpPr>
        <p:spPr>
          <a:xfrm>
            <a:off x="609600" y="24638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solidFill>
                  <a:srgbClr val="C9260A"/>
                </a:solidFill>
              </a:rPr>
              <a:t>Q1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422400" y="2438400"/>
            <a:ext cx="6096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600" b="1" dirty="0">
                <a:solidFill>
                  <a:srgbClr val="111111"/>
                </a:solidFill>
              </a:rPr>
              <a:t>机房里的电脑，为什么能互相“看见”，还能互相传东西？</a:t>
            </a:r>
          </a:p>
        </p:txBody>
      </p:sp>
      <p:cxnSp>
        <p:nvCxnSpPr>
          <p:cNvPr id="10" name="Line 10"/>
          <p:cNvCxnSpPr/>
          <p:nvPr/>
        </p:nvCxnSpPr>
        <p:spPr>
          <a:xfrm>
            <a:off x="7772400" y="2794000"/>
            <a:ext cx="1016000" cy="0"/>
          </a:xfrm>
          <a:prstGeom prst="line">
            <a:avLst/>
          </a:prstGeom>
          <a:ln w="19050">
            <a:solidFill>
              <a:srgbClr val="C9260A"/>
            </a:solidFill>
            <a:tailEnd type="triangle" w="med" len="med"/>
          </a:ln>
        </p:spPr>
      </p:cxnSp>
      <p:sp>
        <p:nvSpPr>
          <p:cNvPr id="11" name="Text 11"/>
          <p:cNvSpPr txBox="1"/>
          <p:nvPr/>
        </p:nvSpPr>
        <p:spPr>
          <a:xfrm>
            <a:off x="9042400" y="25146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600" b="1" dirty="0">
                <a:solidFill>
                  <a:srgbClr val="C9260A"/>
                </a:solidFill>
              </a:rPr>
              <a:t>端口 · 内网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9042400" y="30226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400" b="0" dirty="0">
                <a:solidFill>
                  <a:srgbClr val="4F4C47"/>
                </a:solidFill>
              </a:rPr>
              <a:t>后来才知道 · 第 05 页</a:t>
            </a:r>
          </a:p>
        </p:txBody>
      </p:sp>
      <p:cxnSp>
        <p:nvCxnSpPr>
          <p:cNvPr id="13" name="Line 13"/>
          <p:cNvCxnSpPr/>
          <p:nvPr/>
        </p:nvCxnSpPr>
        <p:spPr>
          <a:xfrm>
            <a:off x="609600" y="3911600"/>
            <a:ext cx="10972800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Text 14"/>
          <p:cNvSpPr txBox="1"/>
          <p:nvPr/>
        </p:nvSpPr>
        <p:spPr>
          <a:xfrm>
            <a:off x="609600" y="41402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solidFill>
                  <a:srgbClr val="C9260A"/>
                </a:solidFill>
              </a:rPr>
              <a:t>Q2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1422400" y="4114800"/>
            <a:ext cx="6096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600" b="1" dirty="0">
                <a:solidFill>
                  <a:srgbClr val="111111"/>
                </a:solidFill>
              </a:rPr>
              <a:t>这个软件到底怎么跑？它在网络上收发了什么？</a:t>
            </a:r>
          </a:p>
        </p:txBody>
      </p:sp>
      <p:cxnSp>
        <p:nvCxnSpPr>
          <p:cNvPr id="16" name="Line 16"/>
          <p:cNvCxnSpPr/>
          <p:nvPr/>
        </p:nvCxnSpPr>
        <p:spPr>
          <a:xfrm>
            <a:off x="7772400" y="4470400"/>
            <a:ext cx="1016000" cy="0"/>
          </a:xfrm>
          <a:prstGeom prst="line">
            <a:avLst/>
          </a:prstGeom>
          <a:ln w="19050">
            <a:solidFill>
              <a:srgbClr val="C9260A"/>
            </a:solidFill>
            <a:tailEnd type="triangle" w="med" len="med"/>
          </a:ln>
        </p:spPr>
      </p:cxnSp>
      <p:sp>
        <p:nvSpPr>
          <p:cNvPr id="17" name="Text 17"/>
          <p:cNvSpPr txBox="1"/>
          <p:nvPr/>
        </p:nvSpPr>
        <p:spPr>
          <a:xfrm>
            <a:off x="9042400" y="41910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600" b="1" dirty="0">
                <a:solidFill>
                  <a:srgbClr val="C9260A"/>
                </a:solidFill>
              </a:rPr>
              <a:t>逆向工程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9042400" y="46990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400" b="0" dirty="0">
                <a:solidFill>
                  <a:srgbClr val="4F4C47"/>
                </a:solidFill>
              </a:rPr>
              <a:t>后来才知道 · 第 06 页</a:t>
            </a:r>
          </a:p>
        </p:txBody>
      </p:sp>
      <p:cxnSp>
        <p:nvCxnSpPr>
          <p:cNvPr id="19" name="Line 19"/>
          <p:cNvCxnSpPr/>
          <p:nvPr/>
        </p:nvCxnSpPr>
        <p:spPr>
          <a:xfrm>
            <a:off x="609600" y="5588000"/>
            <a:ext cx="10972800" cy="0"/>
          </a:xfrm>
          <a:prstGeom prst="line">
            <a:avLst/>
          </a:prstGeom>
          <a:ln w="38100">
            <a:solidFill>
              <a:srgbClr val="111111"/>
            </a:solidFill>
          </a:ln>
        </p:spPr>
      </p:cxnSp>
      <p:sp>
        <p:nvSpPr>
          <p:cNvPr id="20" name="Text 20"/>
          <p:cNvSpPr txBox="1"/>
          <p:nvPr/>
        </p:nvSpPr>
        <p:spPr>
          <a:xfrm>
            <a:off x="609600" y="5791200"/>
            <a:ext cx="10972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000" b="0" dirty="0">
                <a:solidFill>
                  <a:srgbClr val="111111"/>
                </a:solidFill>
              </a:rPr>
              <a:t>当年的</a:t>
            </a:r>
            <a:r>
              <a:rPr lang="zh-CN" altLang="en-US" sz="2000" b="1" dirty="0">
                <a:solidFill>
                  <a:srgbClr val="111111"/>
                </a:solidFill>
              </a:rPr>
              <a:t>瞎折腾</a:t>
            </a:r>
            <a:r>
              <a:rPr lang="zh-CN" altLang="en-US" sz="2000" b="0" dirty="0">
                <a:solidFill>
                  <a:srgbClr val="111111"/>
                </a:solidFill>
              </a:rPr>
              <a:t>，今天变成能真正拿来</a:t>
            </a:r>
            <a:r>
              <a:rPr lang="zh-CN" altLang="en-US" sz="2000" b="1" dirty="0">
                <a:solidFill>
                  <a:srgbClr val="C9260A"/>
                </a:solidFill>
              </a:rPr>
              <a:t>开发的本事</a:t>
            </a:r>
            <a:r>
              <a:rPr lang="zh-CN" altLang="en-US" sz="2000" b="0" dirty="0">
                <a:solidFill>
                  <a:srgbClr val="11111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1092238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/>
      <p:bldP spid="13" grpId="0" animBg="1"/>
      <p:bldP spid="14" grpId="0"/>
      <p:bldP spid="15" grpId="0"/>
      <p:bldP spid="16" grpId="0" animBg="1"/>
      <p:bldP spid="17" grpId="0"/>
      <p:bldP spid="18" grpId="0"/>
      <p:bldP spid="19" grpId="0" animBg="1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1" dirty="0">
                <a:solidFill>
                  <a:srgbClr val="111111"/>
                </a:solidFill>
              </a:rPr>
              <a:t>AI 开发入门</a:t>
            </a:r>
            <a:r>
              <a:rPr lang="zh-CN" altLang="en-US" sz="1100" b="0" dirty="0">
                <a:solidFill>
                  <a:srgbClr val="4F4C47"/>
                </a:solidFill>
              </a:rPr>
              <a:t>　第一课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7772400" y="304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>
                <a:solidFill>
                  <a:srgbClr val="111111"/>
                </a:solidFill>
              </a:rPr>
              <a:t>04</a:t>
            </a:r>
            <a:r>
              <a:rPr lang="zh-CN" altLang="en-US" sz="1100" b="0">
                <a:solidFill>
                  <a:srgbClr val="4F4C47"/>
                </a:solidFill>
              </a:rPr>
              <a:t> / 13</a:t>
            </a:r>
            <a:endParaRPr lang="zh-CN" altLang="en-US" sz="1100" b="0" dirty="0">
              <a:solidFill>
                <a:srgbClr val="4F4C47"/>
              </a:solidFill>
            </a:endParaRPr>
          </a:p>
        </p:txBody>
      </p:sp>
      <p:cxnSp>
        <p:nvCxnSpPr>
          <p:cNvPr id="4" name="Line 4"/>
          <p:cNvCxnSpPr/>
          <p:nvPr/>
        </p:nvCxnSpPr>
        <p:spPr>
          <a:xfrm>
            <a:off x="609600" y="584200"/>
            <a:ext cx="10972800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09600" y="8382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>
                <a:solidFill>
                  <a:srgbClr val="C9260A"/>
                </a:solidFill>
              </a:rPr>
              <a:t>04</a:t>
            </a:r>
            <a:r>
              <a:rPr lang="zh-CN" altLang="en-US" sz="1400" b="1">
                <a:solidFill>
                  <a:srgbClr val="C9260A"/>
                </a:solidFill>
              </a:rPr>
              <a:t>　</a:t>
            </a:r>
            <a:r>
              <a:rPr lang="zh-CN" altLang="en-US" sz="1400" b="1" dirty="0">
                <a:solidFill>
                  <a:srgbClr val="C9260A"/>
                </a:solidFill>
              </a:rPr>
              <a:t>本节主线</a:t>
            </a:r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600" b="1" dirty="0">
                <a:solidFill>
                  <a:srgbClr val="111111"/>
                </a:solidFill>
              </a:rPr>
              <a:t>两条线，相辅相成</a:t>
            </a:r>
          </a:p>
        </p:txBody>
      </p:sp>
      <p:cxnSp>
        <p:nvCxnSpPr>
          <p:cNvPr id="7" name="Line 7"/>
          <p:cNvCxnSpPr/>
          <p:nvPr/>
        </p:nvCxnSpPr>
        <p:spPr>
          <a:xfrm>
            <a:off x="609600" y="2184400"/>
            <a:ext cx="4978400" cy="0"/>
          </a:xfrm>
          <a:prstGeom prst="line">
            <a:avLst/>
          </a:prstGeom>
          <a:ln w="38100">
            <a:solidFill>
              <a:srgbClr val="111111"/>
            </a:solidFill>
          </a:ln>
        </p:spPr>
      </p:cxnSp>
      <p:sp>
        <p:nvSpPr>
          <p:cNvPr id="8" name="Text 8"/>
          <p:cNvSpPr txBox="1"/>
          <p:nvPr/>
        </p:nvSpPr>
        <p:spPr>
          <a:xfrm>
            <a:off x="609600" y="2362200"/>
            <a:ext cx="50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b="1" dirty="0">
                <a:solidFill>
                  <a:srgbClr val="C9260A"/>
                </a:solidFill>
              </a:rPr>
              <a:t>A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219200" y="2336800"/>
            <a:ext cx="4368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1" dirty="0">
                <a:solidFill>
                  <a:srgbClr val="111111"/>
                </a:solidFill>
              </a:rPr>
              <a:t>用 AI 学习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219200" y="2895600"/>
            <a:ext cx="43688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dirty="0">
                <a:solidFill>
                  <a:srgbClr val="4F4C47"/>
                </a:solidFill>
              </a:rPr>
              <a:t>讲概念、出题、读长文 —— 弄懂原理</a:t>
            </a:r>
          </a:p>
        </p:txBody>
      </p:sp>
      <p:cxnSp>
        <p:nvCxnSpPr>
          <p:cNvPr id="11" name="Line 11"/>
          <p:cNvCxnSpPr/>
          <p:nvPr/>
        </p:nvCxnSpPr>
        <p:spPr>
          <a:xfrm>
            <a:off x="609600" y="4140200"/>
            <a:ext cx="4978400" cy="0"/>
          </a:xfrm>
          <a:prstGeom prst="line">
            <a:avLst/>
          </a:prstGeom>
          <a:ln w="9525">
            <a:solidFill>
              <a:srgbClr val="C9260A"/>
            </a:solidFill>
            <a:prstDash val="dash"/>
          </a:ln>
        </p:spPr>
      </p:cxnSp>
      <p:sp>
        <p:nvSpPr>
          <p:cNvPr id="12" name="Text 12"/>
          <p:cNvSpPr txBox="1"/>
          <p:nvPr/>
        </p:nvSpPr>
        <p:spPr>
          <a:xfrm>
            <a:off x="3759200" y="3987800"/>
            <a:ext cx="1828800" cy="304800"/>
          </a:xfrm>
          <a:prstGeom prst="rect">
            <a:avLst/>
          </a:prstGeom>
          <a:solidFill>
            <a:srgbClr val="F2EFE8"/>
          </a:solidFill>
          <a:ln>
            <a:noFill/>
          </a:ln>
        </p:spPr>
        <p:txBody>
          <a:bodyPr wrap="square" lIns="10160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dirty="0">
                <a:solidFill>
                  <a:srgbClr val="C9260A"/>
                </a:solidFill>
              </a:rPr>
              <a:t>↑↓　相辅相成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609600" y="4445000"/>
            <a:ext cx="50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b="1" dirty="0">
                <a:solidFill>
                  <a:srgbClr val="C9260A"/>
                </a:solidFill>
              </a:rPr>
              <a:t>B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1219200" y="4419600"/>
            <a:ext cx="4368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1" dirty="0">
                <a:solidFill>
                  <a:srgbClr val="111111"/>
                </a:solidFill>
              </a:rPr>
              <a:t>用 AI 开发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1219200" y="4978400"/>
            <a:ext cx="43688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dirty="0">
                <a:solidFill>
                  <a:srgbClr val="4F4C47"/>
                </a:solidFill>
              </a:rPr>
              <a:t>读写项目、运行调试 —— 做出东西</a:t>
            </a:r>
          </a:p>
        </p:txBody>
      </p:sp>
      <p:cxnSp>
        <p:nvCxnSpPr>
          <p:cNvPr id="16" name="Line 16"/>
          <p:cNvCxnSpPr/>
          <p:nvPr/>
        </p:nvCxnSpPr>
        <p:spPr>
          <a:xfrm>
            <a:off x="609600" y="6146800"/>
            <a:ext cx="4978400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6299200" y="2184400"/>
            <a:ext cx="5283200" cy="0"/>
          </a:xfrm>
          <a:prstGeom prst="line">
            <a:avLst/>
          </a:prstGeom>
          <a:ln w="38100">
            <a:solidFill>
              <a:srgbClr val="111111"/>
            </a:solidFill>
          </a:ln>
        </p:spPr>
      </p:cxnSp>
      <p:sp>
        <p:nvSpPr>
          <p:cNvPr id="18" name="Text 18"/>
          <p:cNvSpPr txBox="1"/>
          <p:nvPr/>
        </p:nvSpPr>
        <p:spPr>
          <a:xfrm>
            <a:off x="6299200" y="2286000"/>
            <a:ext cx="5283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1" dirty="0">
                <a:solidFill>
                  <a:srgbClr val="4F4C47"/>
                </a:solidFill>
              </a:rPr>
              <a:t>本节补上的四项技术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6299200" y="2794000"/>
            <a:ext cx="8128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600" b="1" dirty="0">
                <a:solidFill>
                  <a:srgbClr val="111111"/>
                </a:solidFill>
              </a:rPr>
              <a:t>01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7264400" y="2768600"/>
            <a:ext cx="4318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111111"/>
                </a:solidFill>
              </a:rPr>
              <a:t>逆向工程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7264400" y="3124200"/>
            <a:ext cx="431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dirty="0">
                <a:solidFill>
                  <a:srgbClr val="4F4C47"/>
                </a:solidFill>
              </a:rPr>
              <a:t>读懂没有源码的程序</a:t>
            </a:r>
          </a:p>
        </p:txBody>
      </p:sp>
      <p:cxnSp>
        <p:nvCxnSpPr>
          <p:cNvPr id="22" name="Line 22"/>
          <p:cNvCxnSpPr/>
          <p:nvPr/>
        </p:nvCxnSpPr>
        <p:spPr>
          <a:xfrm>
            <a:off x="6299200" y="3517900"/>
            <a:ext cx="5283200" cy="0"/>
          </a:xfrm>
          <a:prstGeom prst="line">
            <a:avLst/>
          </a:prstGeom>
          <a:ln w="9525">
            <a:solidFill>
              <a:srgbClr val="CFC9BD"/>
            </a:solidFill>
          </a:ln>
        </p:spPr>
      </p:cxnSp>
      <p:sp>
        <p:nvSpPr>
          <p:cNvPr id="23" name="Text 23"/>
          <p:cNvSpPr txBox="1"/>
          <p:nvPr/>
        </p:nvSpPr>
        <p:spPr>
          <a:xfrm>
            <a:off x="6299200" y="3670300"/>
            <a:ext cx="8128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600" b="1" dirty="0">
                <a:solidFill>
                  <a:srgbClr val="111111"/>
                </a:solidFill>
              </a:rPr>
              <a:t>02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7264400" y="3644900"/>
            <a:ext cx="4318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111111"/>
                </a:solidFill>
              </a:rPr>
              <a:t>内网 · 外网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7264400" y="4000500"/>
            <a:ext cx="431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dirty="0">
                <a:solidFill>
                  <a:srgbClr val="4F4C47"/>
                </a:solidFill>
              </a:rPr>
              <a:t>设备之间怎么通信</a:t>
            </a:r>
          </a:p>
        </p:txBody>
      </p:sp>
      <p:cxnSp>
        <p:nvCxnSpPr>
          <p:cNvPr id="26" name="Line 26"/>
          <p:cNvCxnSpPr/>
          <p:nvPr/>
        </p:nvCxnSpPr>
        <p:spPr>
          <a:xfrm>
            <a:off x="6299200" y="4394200"/>
            <a:ext cx="5283200" cy="0"/>
          </a:xfrm>
          <a:prstGeom prst="line">
            <a:avLst/>
          </a:prstGeom>
          <a:ln w="9525">
            <a:solidFill>
              <a:srgbClr val="CFC9BD"/>
            </a:solidFill>
          </a:ln>
        </p:spPr>
      </p:cxnSp>
      <p:sp>
        <p:nvSpPr>
          <p:cNvPr id="27" name="Text 27"/>
          <p:cNvSpPr txBox="1"/>
          <p:nvPr/>
        </p:nvSpPr>
        <p:spPr>
          <a:xfrm>
            <a:off x="6299200" y="4546600"/>
            <a:ext cx="8128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600" b="1" dirty="0">
                <a:solidFill>
                  <a:srgbClr val="111111"/>
                </a:solidFill>
              </a:rPr>
              <a:t>03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7264400" y="4521200"/>
            <a:ext cx="4318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111111"/>
                </a:solidFill>
              </a:rPr>
              <a:t>内网穿透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7264400" y="4876800"/>
            <a:ext cx="431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dirty="0">
                <a:solidFill>
                  <a:srgbClr val="4F4C47"/>
                </a:solidFill>
              </a:rPr>
              <a:t>从外面连回内网的服务</a:t>
            </a:r>
          </a:p>
        </p:txBody>
      </p:sp>
      <p:cxnSp>
        <p:nvCxnSpPr>
          <p:cNvPr id="30" name="Line 30"/>
          <p:cNvCxnSpPr/>
          <p:nvPr/>
        </p:nvCxnSpPr>
        <p:spPr>
          <a:xfrm>
            <a:off x="6299200" y="5270500"/>
            <a:ext cx="5283200" cy="0"/>
          </a:xfrm>
          <a:prstGeom prst="line">
            <a:avLst/>
          </a:prstGeom>
          <a:ln w="9525">
            <a:solidFill>
              <a:srgbClr val="CFC9BD"/>
            </a:solidFill>
          </a:ln>
        </p:spPr>
      </p:cxnSp>
      <p:sp>
        <p:nvSpPr>
          <p:cNvPr id="31" name="Text 31"/>
          <p:cNvSpPr txBox="1"/>
          <p:nvPr/>
        </p:nvSpPr>
        <p:spPr>
          <a:xfrm>
            <a:off x="6299200" y="5422900"/>
            <a:ext cx="8128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600" b="1" dirty="0">
                <a:solidFill>
                  <a:srgbClr val="111111"/>
                </a:solidFill>
              </a:rPr>
              <a:t>04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7264400" y="5397500"/>
            <a:ext cx="4318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111111"/>
                </a:solidFill>
              </a:rPr>
              <a:t>开源与 Harness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7264400" y="5753100"/>
            <a:ext cx="431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dirty="0">
                <a:solidFill>
                  <a:srgbClr val="4F4C47"/>
                </a:solidFill>
              </a:rPr>
              <a:t>获取项目，让 AI 直接开发</a:t>
            </a:r>
          </a:p>
        </p:txBody>
      </p:sp>
      <p:cxnSp>
        <p:nvCxnSpPr>
          <p:cNvPr id="34" name="Line 34"/>
          <p:cNvCxnSpPr/>
          <p:nvPr/>
        </p:nvCxnSpPr>
        <p:spPr>
          <a:xfrm>
            <a:off x="6299200" y="6146800"/>
            <a:ext cx="5283200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</p:spTree>
    <p:extLst>
      <p:ext uri="{BB962C8B-B14F-4D97-AF65-F5344CB8AC3E}">
        <p14:creationId xmlns:p14="http://schemas.microsoft.com/office/powerpoint/2010/main" val="84618981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1" dirty="0">
                <a:solidFill>
                  <a:srgbClr val="111111"/>
                </a:solidFill>
              </a:rPr>
              <a:t>AI 开发入门</a:t>
            </a:r>
            <a:r>
              <a:rPr lang="zh-CN" altLang="en-US" sz="1100" b="0" dirty="0">
                <a:solidFill>
                  <a:srgbClr val="4F4C47"/>
                </a:solidFill>
              </a:rPr>
              <a:t>　第一课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7772400" y="304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>
                <a:solidFill>
                  <a:srgbClr val="111111"/>
                </a:solidFill>
              </a:rPr>
              <a:t>05</a:t>
            </a:r>
            <a:r>
              <a:rPr lang="zh-CN" altLang="en-US" sz="1100" b="0">
                <a:solidFill>
                  <a:srgbClr val="4F4C47"/>
                </a:solidFill>
              </a:rPr>
              <a:t> / 13</a:t>
            </a:r>
            <a:endParaRPr lang="zh-CN" altLang="en-US" sz="1100" b="0" dirty="0">
              <a:solidFill>
                <a:srgbClr val="4F4C47"/>
              </a:solidFill>
            </a:endParaRPr>
          </a:p>
        </p:txBody>
      </p:sp>
      <p:cxnSp>
        <p:nvCxnSpPr>
          <p:cNvPr id="4" name="Line 4"/>
          <p:cNvCxnSpPr/>
          <p:nvPr/>
        </p:nvCxnSpPr>
        <p:spPr>
          <a:xfrm>
            <a:off x="609600" y="584200"/>
            <a:ext cx="10972800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09600" y="8382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>
                <a:solidFill>
                  <a:srgbClr val="C9260A"/>
                </a:solidFill>
              </a:rPr>
              <a:t>05</a:t>
            </a:r>
            <a:r>
              <a:rPr lang="zh-CN" altLang="en-US" sz="1400" b="1">
                <a:solidFill>
                  <a:srgbClr val="C9260A"/>
                </a:solidFill>
              </a:rPr>
              <a:t>　</a:t>
            </a:r>
            <a:r>
              <a:rPr lang="zh-CN" altLang="en-US" sz="1400" b="1" dirty="0">
                <a:solidFill>
                  <a:srgbClr val="C9260A"/>
                </a:solidFill>
              </a:rPr>
              <a:t>内网</a:t>
            </a:r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600" b="1" dirty="0">
                <a:solidFill>
                  <a:srgbClr val="111111"/>
                </a:solidFill>
              </a:rPr>
              <a:t>内网：一个网里，设备互相可见</a:t>
            </a:r>
          </a:p>
        </p:txBody>
      </p:sp>
      <p:sp>
        <p:nvSpPr>
          <p:cNvPr id="7" name="LAN Region"/>
          <p:cNvSpPr txBox="1"/>
          <p:nvPr/>
        </p:nvSpPr>
        <p:spPr>
          <a:xfrm>
            <a:off x="609600" y="2133600"/>
            <a:ext cx="7620000" cy="3048000"/>
          </a:xfrm>
          <a:prstGeom prst="rect">
            <a:avLst/>
          </a:prstGeom>
          <a:noFill/>
          <a:ln w="9525">
            <a:solidFill>
              <a:srgbClr val="111111"/>
            </a:solidFill>
            <a:prstDash val="dash"/>
          </a:ln>
        </p:spPr>
        <p:txBody>
          <a:bodyPr wrap="square" lIns="0" tIns="0" rIns="0" bIns="0" rtlCol="0" anchor="t">
            <a:noAutofit/>
          </a:bodyPr>
          <a:lstStyle/>
          <a:p>
            <a:endParaRPr lang="zh-CN" sz="1000" dirty="0"/>
          </a:p>
        </p:txBody>
      </p:sp>
      <p:sp>
        <p:nvSpPr>
          <p:cNvPr id="8" name="Text 8"/>
          <p:cNvSpPr txBox="1"/>
          <p:nvPr/>
        </p:nvSpPr>
        <p:spPr>
          <a:xfrm>
            <a:off x="812800" y="22606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dirty="0">
                <a:solidFill>
                  <a:srgbClr val="4F4C47"/>
                </a:solidFill>
              </a:rPr>
              <a:t>内网（局域网）</a:t>
            </a:r>
          </a:p>
        </p:txBody>
      </p:sp>
      <p:cxnSp>
        <p:nvCxnSpPr>
          <p:cNvPr id="9" name="Line 9"/>
          <p:cNvCxnSpPr/>
          <p:nvPr/>
        </p:nvCxnSpPr>
        <p:spPr>
          <a:xfrm>
            <a:off x="1981200" y="3022600"/>
            <a:ext cx="2590800" cy="609600"/>
          </a:xfrm>
          <a:prstGeom prst="line">
            <a:avLst/>
          </a:prstGeom>
          <a:ln w="12700">
            <a:solidFill>
              <a:srgbClr val="111111"/>
            </a:solidFill>
          </a:ln>
        </p:spPr>
      </p:cxnSp>
      <p:cxnSp>
        <p:nvCxnSpPr>
          <p:cNvPr id="10" name="Line 10"/>
          <p:cNvCxnSpPr/>
          <p:nvPr/>
        </p:nvCxnSpPr>
        <p:spPr>
          <a:xfrm flipV="1">
            <a:off x="1981200" y="3632200"/>
            <a:ext cx="2590800" cy="863600"/>
          </a:xfrm>
          <a:prstGeom prst="line">
            <a:avLst/>
          </a:prstGeom>
          <a:ln w="12700">
            <a:solidFill>
              <a:srgbClr val="111111"/>
            </a:solidFill>
          </a:ln>
        </p:spPr>
      </p:cxnSp>
      <p:cxnSp>
        <p:nvCxnSpPr>
          <p:cNvPr id="11" name="Line 11"/>
          <p:cNvCxnSpPr/>
          <p:nvPr/>
        </p:nvCxnSpPr>
        <p:spPr>
          <a:xfrm flipH="1" flipV="1">
            <a:off x="4572000" y="3632200"/>
            <a:ext cx="2463800" cy="863600"/>
          </a:xfrm>
          <a:prstGeom prst="line">
            <a:avLst/>
          </a:prstGeom>
          <a:ln w="12700">
            <a:solidFill>
              <a:srgbClr val="111111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5334000" y="3632200"/>
            <a:ext cx="3556000" cy="0"/>
          </a:xfrm>
          <a:prstGeom prst="line">
            <a:avLst/>
          </a:prstGeom>
          <a:ln w="12700">
            <a:solidFill>
              <a:srgbClr val="4F4C47"/>
            </a:solidFill>
            <a:prstDash val="dash"/>
            <a:tailEnd type="triangle" w="med" len="med"/>
          </a:ln>
        </p:spPr>
      </p:cxnSp>
      <p:sp>
        <p:nvSpPr>
          <p:cNvPr id="13" name="Node 我的电脑"/>
          <p:cNvSpPr txBox="1"/>
          <p:nvPr/>
        </p:nvSpPr>
        <p:spPr>
          <a:xfrm>
            <a:off x="914400" y="2641600"/>
            <a:ext cx="2133600" cy="762000"/>
          </a:xfrm>
          <a:prstGeom prst="rect">
            <a:avLst/>
          </a:prstGeom>
          <a:solidFill>
            <a:srgbClr val="F2EFE8"/>
          </a:solidFill>
          <a:ln w="12700">
            <a:solidFill>
              <a:srgbClr val="11111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1" dirty="0">
                <a:solidFill>
                  <a:srgbClr val="111111"/>
                </a:solidFill>
              </a:rPr>
              <a:t>我的电脑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altLang="en-US" sz="1300" b="1" dirty="0">
                <a:solidFill>
                  <a:srgbClr val="C9260A"/>
                </a:solidFill>
                <a:latin typeface="Consolas"/>
                <a:ea typeface="Microsoft YaHei"/>
              </a:rPr>
              <a:t>:25565</a:t>
            </a:r>
          </a:p>
        </p:txBody>
      </p:sp>
      <p:sp>
        <p:nvSpPr>
          <p:cNvPr id="14" name="Node 同学的电脑"/>
          <p:cNvSpPr txBox="1"/>
          <p:nvPr/>
        </p:nvSpPr>
        <p:spPr>
          <a:xfrm>
            <a:off x="914400" y="4114800"/>
            <a:ext cx="2133600" cy="762000"/>
          </a:xfrm>
          <a:prstGeom prst="rect">
            <a:avLst/>
          </a:prstGeom>
          <a:solidFill>
            <a:srgbClr val="F2EFE8"/>
          </a:solidFill>
          <a:ln w="12700">
            <a:solidFill>
              <a:srgbClr val="11111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1" dirty="0">
                <a:solidFill>
                  <a:srgbClr val="111111"/>
                </a:solidFill>
              </a:rPr>
              <a:t>同学的电脑</a:t>
            </a:r>
          </a:p>
        </p:txBody>
      </p:sp>
      <p:sp>
        <p:nvSpPr>
          <p:cNvPr id="15" name="Node 服务器"/>
          <p:cNvSpPr txBox="1"/>
          <p:nvPr/>
        </p:nvSpPr>
        <p:spPr>
          <a:xfrm>
            <a:off x="6045200" y="4114800"/>
            <a:ext cx="1981200" cy="762000"/>
          </a:xfrm>
          <a:prstGeom prst="rect">
            <a:avLst/>
          </a:prstGeom>
          <a:solidFill>
            <a:srgbClr val="F2EFE8"/>
          </a:solidFill>
          <a:ln w="12700">
            <a:solidFill>
              <a:srgbClr val="11111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1" dirty="0">
                <a:solidFill>
                  <a:srgbClr val="111111"/>
                </a:solidFill>
              </a:rPr>
              <a:t>服务器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altLang="en-US" sz="1300" b="1" dirty="0">
                <a:solidFill>
                  <a:srgbClr val="C9260A"/>
                </a:solidFill>
                <a:latin typeface="Consolas"/>
                <a:ea typeface="Microsoft YaHei"/>
              </a:rPr>
              <a:t>:8080</a:t>
            </a:r>
          </a:p>
        </p:txBody>
      </p:sp>
      <p:sp>
        <p:nvSpPr>
          <p:cNvPr id="16" name="Node 路由器"/>
          <p:cNvSpPr txBox="1"/>
          <p:nvPr/>
        </p:nvSpPr>
        <p:spPr>
          <a:xfrm>
            <a:off x="3810000" y="3327400"/>
            <a:ext cx="1524000" cy="6096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1" dirty="0">
                <a:solidFill>
                  <a:srgbClr val="F2EFE8"/>
                </a:solidFill>
              </a:rPr>
              <a:t>路由器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8991600" y="2362200"/>
            <a:ext cx="2590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111111"/>
                </a:solidFill>
              </a:rPr>
              <a:t>外网 · 互联网</a:t>
            </a:r>
          </a:p>
        </p:txBody>
      </p:sp>
      <p:cxnSp>
        <p:nvCxnSpPr>
          <p:cNvPr id="18" name="Line 18"/>
          <p:cNvCxnSpPr/>
          <p:nvPr/>
        </p:nvCxnSpPr>
        <p:spPr>
          <a:xfrm>
            <a:off x="8991600" y="2819400"/>
            <a:ext cx="2590800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9" name="Text 19"/>
          <p:cNvSpPr txBox="1"/>
          <p:nvPr/>
        </p:nvSpPr>
        <p:spPr>
          <a:xfrm>
            <a:off x="8991600" y="2971800"/>
            <a:ext cx="25908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dirty="0">
                <a:solidFill>
                  <a:srgbClr val="4F4C47"/>
                </a:solidFill>
              </a:rPr>
              <a:t>访问内网以外的任何网站，比如百度、B 站、GitHub，数据都要经路由器出网。</a:t>
            </a:r>
          </a:p>
        </p:txBody>
      </p:sp>
      <p:cxnSp>
        <p:nvCxnSpPr>
          <p:cNvPr id="20" name="Line 20"/>
          <p:cNvCxnSpPr/>
          <p:nvPr/>
        </p:nvCxnSpPr>
        <p:spPr>
          <a:xfrm>
            <a:off x="609600" y="5486400"/>
            <a:ext cx="10972800" cy="0"/>
          </a:xfrm>
          <a:prstGeom prst="line">
            <a:avLst/>
          </a:prstGeom>
          <a:ln w="38100">
            <a:solidFill>
              <a:srgbClr val="111111"/>
            </a:solidFill>
          </a:ln>
        </p:spPr>
      </p:cxnSp>
      <p:sp>
        <p:nvSpPr>
          <p:cNvPr id="21" name="Text 21"/>
          <p:cNvSpPr txBox="1"/>
          <p:nvPr/>
        </p:nvSpPr>
        <p:spPr>
          <a:xfrm>
            <a:off x="609600" y="5664200"/>
            <a:ext cx="914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1" dirty="0">
                <a:solidFill>
                  <a:srgbClr val="C9260A"/>
                </a:solidFill>
              </a:rPr>
              <a:t>关键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1524000" y="5664200"/>
            <a:ext cx="100584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dirty="0">
                <a:solidFill>
                  <a:srgbClr val="111111"/>
                </a:solidFill>
              </a:rPr>
              <a:t>同一内网里，A 找 B 只要知道对方的 </a:t>
            </a:r>
            <a:r>
              <a:rPr lang="zh-CN" altLang="en-US" sz="1700" b="1" dirty="0">
                <a:solidFill>
                  <a:srgbClr val="111111"/>
                </a:solidFill>
              </a:rPr>
              <a:t>IP 和端口</a:t>
            </a:r>
            <a:r>
              <a:rPr lang="zh-CN" altLang="en-US" sz="1700" b="0" dirty="0">
                <a:solidFill>
                  <a:srgbClr val="111111"/>
                </a:solidFill>
              </a:rPr>
              <a:t>，数据不绕互联网。Minecraft 联机、学校点名系统和内网答题、我开发 WordSnap（guojiz.github.io/word-snap）时的测试服务器都这样跑。</a:t>
            </a:r>
          </a:p>
        </p:txBody>
      </p:sp>
    </p:spTree>
    <p:extLst>
      <p:ext uri="{BB962C8B-B14F-4D97-AF65-F5344CB8AC3E}">
        <p14:creationId xmlns:p14="http://schemas.microsoft.com/office/powerpoint/2010/main" val="1003126562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1" dirty="0">
                <a:solidFill>
                  <a:srgbClr val="111111"/>
                </a:solidFill>
              </a:rPr>
              <a:t>AI 开发入门</a:t>
            </a:r>
            <a:r>
              <a:rPr lang="zh-CN" altLang="en-US" sz="1100" b="0" dirty="0">
                <a:solidFill>
                  <a:srgbClr val="4F4C47"/>
                </a:solidFill>
              </a:rPr>
              <a:t>　第一课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7772400" y="304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>
                <a:solidFill>
                  <a:srgbClr val="111111"/>
                </a:solidFill>
              </a:rPr>
              <a:t>06</a:t>
            </a:r>
            <a:r>
              <a:rPr lang="zh-CN" altLang="en-US" sz="1100" b="0">
                <a:solidFill>
                  <a:srgbClr val="4F4C47"/>
                </a:solidFill>
              </a:rPr>
              <a:t> / 13</a:t>
            </a:r>
            <a:endParaRPr lang="zh-CN" altLang="en-US" sz="1100" b="0" dirty="0">
              <a:solidFill>
                <a:srgbClr val="4F4C47"/>
              </a:solidFill>
            </a:endParaRPr>
          </a:p>
        </p:txBody>
      </p:sp>
      <p:cxnSp>
        <p:nvCxnSpPr>
          <p:cNvPr id="4" name="Line 4"/>
          <p:cNvCxnSpPr/>
          <p:nvPr/>
        </p:nvCxnSpPr>
        <p:spPr>
          <a:xfrm>
            <a:off x="609600" y="584200"/>
            <a:ext cx="10972800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09600" y="8382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>
                <a:solidFill>
                  <a:srgbClr val="C9260A"/>
                </a:solidFill>
              </a:rPr>
              <a:t>06</a:t>
            </a:r>
            <a:r>
              <a:rPr lang="zh-CN" altLang="en-US" sz="1400" b="1">
                <a:solidFill>
                  <a:srgbClr val="C9260A"/>
                </a:solidFill>
              </a:rPr>
              <a:t>　</a:t>
            </a:r>
            <a:r>
              <a:rPr lang="zh-CN" altLang="en-US" sz="1400" b="1" dirty="0">
                <a:solidFill>
                  <a:srgbClr val="C9260A"/>
                </a:solidFill>
              </a:rPr>
              <a:t>逆向工程</a:t>
            </a:r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600" b="1" dirty="0">
                <a:solidFill>
                  <a:srgbClr val="111111"/>
                </a:solidFill>
              </a:rPr>
              <a:t>逆向工程：读懂没源码的程序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609600" y="2159000"/>
            <a:ext cx="6096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1" dirty="0">
                <a:solidFill>
                  <a:srgbClr val="111111"/>
                </a:solidFill>
              </a:rPr>
              <a:t>逆向 = </a:t>
            </a:r>
            <a:r>
              <a:rPr lang="zh-CN" altLang="en-US" sz="2800" b="1" dirty="0">
                <a:solidFill>
                  <a:srgbClr val="C9260A"/>
                </a:solidFill>
              </a:rPr>
              <a:t>没有源码时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09600" y="2794000"/>
            <a:ext cx="6096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dirty="0">
                <a:solidFill>
                  <a:srgbClr val="111111"/>
                </a:solidFill>
              </a:rPr>
              <a:t>观察一个程序在端口上发什么、收什么，反推它内部怎么工作。看不到图纸，就从门口的来往推断。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7315200" y="2184400"/>
            <a:ext cx="4267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1" dirty="0">
                <a:solidFill>
                  <a:srgbClr val="4F4C47"/>
                </a:solidFill>
              </a:rPr>
              <a:t>程序靠端口收发数据，每个端口像一扇门</a:t>
            </a:r>
          </a:p>
        </p:txBody>
      </p:sp>
      <p:cxnSp>
        <p:nvCxnSpPr>
          <p:cNvPr id="10" name="Line 10"/>
          <p:cNvCxnSpPr/>
          <p:nvPr/>
        </p:nvCxnSpPr>
        <p:spPr>
          <a:xfrm>
            <a:off x="7315200" y="2565400"/>
            <a:ext cx="4267200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1" name="Text 11"/>
          <p:cNvSpPr txBox="1"/>
          <p:nvPr/>
        </p:nvSpPr>
        <p:spPr>
          <a:xfrm>
            <a:off x="7315200" y="2654300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1" dirty="0">
                <a:solidFill>
                  <a:srgbClr val="C9260A"/>
                </a:solidFill>
                <a:latin typeface="Consolas"/>
                <a:ea typeface="Microsoft YaHei"/>
              </a:rPr>
              <a:t>:80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8890000" y="2654300"/>
            <a:ext cx="2692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1" dirty="0">
                <a:solidFill>
                  <a:srgbClr val="111111"/>
                </a:solidFill>
              </a:rPr>
              <a:t>网页</a:t>
            </a:r>
          </a:p>
        </p:txBody>
      </p:sp>
      <p:cxnSp>
        <p:nvCxnSpPr>
          <p:cNvPr id="13" name="Line 13"/>
          <p:cNvCxnSpPr/>
          <p:nvPr/>
        </p:nvCxnSpPr>
        <p:spPr>
          <a:xfrm>
            <a:off x="7315200" y="3022600"/>
            <a:ext cx="4267200" cy="0"/>
          </a:xfrm>
          <a:prstGeom prst="line">
            <a:avLst/>
          </a:prstGeom>
          <a:ln w="9525">
            <a:solidFill>
              <a:srgbClr val="CFC9BD"/>
            </a:solidFill>
          </a:ln>
        </p:spPr>
      </p:cxnSp>
      <p:sp>
        <p:nvSpPr>
          <p:cNvPr id="14" name="Text 14"/>
          <p:cNvSpPr txBox="1"/>
          <p:nvPr/>
        </p:nvSpPr>
        <p:spPr>
          <a:xfrm>
            <a:off x="7315200" y="3111500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1" dirty="0">
                <a:solidFill>
                  <a:srgbClr val="C9260A"/>
                </a:solidFill>
                <a:latin typeface="Consolas"/>
                <a:ea typeface="Microsoft YaHei"/>
              </a:rPr>
              <a:t>:25565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8890000" y="3111500"/>
            <a:ext cx="2692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1" dirty="0">
                <a:solidFill>
                  <a:srgbClr val="111111"/>
                </a:solidFill>
              </a:rPr>
              <a:t>Minecraft</a:t>
            </a:r>
          </a:p>
        </p:txBody>
      </p:sp>
      <p:cxnSp>
        <p:nvCxnSpPr>
          <p:cNvPr id="16" name="Line 16"/>
          <p:cNvCxnSpPr/>
          <p:nvPr/>
        </p:nvCxnSpPr>
        <p:spPr>
          <a:xfrm>
            <a:off x="7315200" y="3479800"/>
            <a:ext cx="4267200" cy="0"/>
          </a:xfrm>
          <a:prstGeom prst="line">
            <a:avLst/>
          </a:prstGeom>
          <a:ln w="9525">
            <a:solidFill>
              <a:srgbClr val="CFC9BD"/>
            </a:solidFill>
          </a:ln>
        </p:spPr>
      </p:cxnSp>
      <p:sp>
        <p:nvSpPr>
          <p:cNvPr id="17" name="Text 17"/>
          <p:cNvSpPr txBox="1"/>
          <p:nvPr/>
        </p:nvSpPr>
        <p:spPr>
          <a:xfrm>
            <a:off x="7315200" y="3568700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1" dirty="0">
                <a:solidFill>
                  <a:srgbClr val="C9260A"/>
                </a:solidFill>
                <a:latin typeface="Consolas"/>
                <a:ea typeface="Microsoft YaHei"/>
              </a:rPr>
              <a:t>:8080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8890000" y="3568700"/>
            <a:ext cx="2692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1" dirty="0">
                <a:solidFill>
                  <a:srgbClr val="111111"/>
                </a:solidFill>
              </a:rPr>
              <a:t>本地服务</a:t>
            </a:r>
          </a:p>
        </p:txBody>
      </p:sp>
      <p:cxnSp>
        <p:nvCxnSpPr>
          <p:cNvPr id="19" name="Line 19"/>
          <p:cNvCxnSpPr/>
          <p:nvPr/>
        </p:nvCxnSpPr>
        <p:spPr>
          <a:xfrm>
            <a:off x="7315200" y="3937000"/>
            <a:ext cx="4267200" cy="0"/>
          </a:xfrm>
          <a:prstGeom prst="line">
            <a:avLst/>
          </a:prstGeom>
          <a:ln w="9525">
            <a:solidFill>
              <a:srgbClr val="CFC9BD"/>
            </a:solidFill>
          </a:ln>
        </p:spPr>
      </p:cxnSp>
      <p:sp>
        <p:nvSpPr>
          <p:cNvPr id="20" name="Text 20"/>
          <p:cNvSpPr txBox="1"/>
          <p:nvPr/>
        </p:nvSpPr>
        <p:spPr>
          <a:xfrm>
            <a:off x="609600" y="42672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1" dirty="0">
                <a:solidFill>
                  <a:srgbClr val="4F4C47"/>
                </a:solidFill>
              </a:rPr>
              <a:t>正当用途</a:t>
            </a:r>
          </a:p>
        </p:txBody>
      </p:sp>
      <p:cxnSp>
        <p:nvCxnSpPr>
          <p:cNvPr id="21" name="Line 21"/>
          <p:cNvCxnSpPr/>
          <p:nvPr/>
        </p:nvCxnSpPr>
        <p:spPr>
          <a:xfrm>
            <a:off x="609600" y="4597400"/>
            <a:ext cx="10972800" cy="0"/>
          </a:xfrm>
          <a:prstGeom prst="line">
            <a:avLst/>
          </a:prstGeom>
          <a:ln w="38100">
            <a:solidFill>
              <a:srgbClr val="111111"/>
            </a:solidFill>
          </a:ln>
        </p:spPr>
      </p:cxnSp>
      <p:sp>
        <p:nvSpPr>
          <p:cNvPr id="22" name="Text 22"/>
          <p:cNvSpPr txBox="1"/>
          <p:nvPr/>
        </p:nvSpPr>
        <p:spPr>
          <a:xfrm>
            <a:off x="609600" y="4749800"/>
            <a:ext cx="2514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1" dirty="0">
                <a:solidFill>
                  <a:srgbClr val="111111"/>
                </a:solidFill>
              </a:rPr>
              <a:t>01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609600" y="5308600"/>
            <a:ext cx="25146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1" dirty="0">
                <a:solidFill>
                  <a:srgbClr val="111111"/>
                </a:solidFill>
              </a:rPr>
              <a:t>调试自己的程序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609600" y="5689600"/>
            <a:ext cx="25146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dirty="0">
                <a:solidFill>
                  <a:srgbClr val="4F4C47"/>
                </a:solidFill>
              </a:rPr>
              <a:t>看清数据到底发出去没有</a:t>
            </a:r>
          </a:p>
        </p:txBody>
      </p:sp>
      <p:cxnSp>
        <p:nvCxnSpPr>
          <p:cNvPr id="25" name="Line 25"/>
          <p:cNvCxnSpPr/>
          <p:nvPr/>
        </p:nvCxnSpPr>
        <p:spPr>
          <a:xfrm>
            <a:off x="3276600" y="4749800"/>
            <a:ext cx="0" cy="1473200"/>
          </a:xfrm>
          <a:prstGeom prst="line">
            <a:avLst/>
          </a:prstGeom>
          <a:ln w="9525">
            <a:solidFill>
              <a:srgbClr val="CFC9BD"/>
            </a:solidFill>
          </a:ln>
        </p:spPr>
      </p:cxnSp>
      <p:sp>
        <p:nvSpPr>
          <p:cNvPr id="26" name="Text 26"/>
          <p:cNvSpPr txBox="1"/>
          <p:nvPr/>
        </p:nvSpPr>
        <p:spPr>
          <a:xfrm>
            <a:off x="3429000" y="4749800"/>
            <a:ext cx="2514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1" dirty="0">
                <a:solidFill>
                  <a:srgbClr val="111111"/>
                </a:solidFill>
              </a:rPr>
              <a:t>02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3429000" y="5308600"/>
            <a:ext cx="25146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1" dirty="0">
                <a:solidFill>
                  <a:srgbClr val="111111"/>
                </a:solidFill>
              </a:rPr>
              <a:t>看懂并修老软件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3429000" y="5689600"/>
            <a:ext cx="25146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dirty="0">
                <a:solidFill>
                  <a:srgbClr val="4F4C47"/>
                </a:solidFill>
              </a:rPr>
              <a:t>没源码也能修掉 bug</a:t>
            </a:r>
          </a:p>
        </p:txBody>
      </p:sp>
      <p:cxnSp>
        <p:nvCxnSpPr>
          <p:cNvPr id="29" name="Line 29"/>
          <p:cNvCxnSpPr/>
          <p:nvPr/>
        </p:nvCxnSpPr>
        <p:spPr>
          <a:xfrm>
            <a:off x="6096000" y="4749800"/>
            <a:ext cx="0" cy="1473200"/>
          </a:xfrm>
          <a:prstGeom prst="line">
            <a:avLst/>
          </a:prstGeom>
          <a:ln w="9525">
            <a:solidFill>
              <a:srgbClr val="CFC9BD"/>
            </a:solidFill>
          </a:ln>
        </p:spPr>
      </p:cxnSp>
      <p:sp>
        <p:nvSpPr>
          <p:cNvPr id="30" name="Text 30"/>
          <p:cNvSpPr txBox="1"/>
          <p:nvPr/>
        </p:nvSpPr>
        <p:spPr>
          <a:xfrm>
            <a:off x="6248400" y="4749800"/>
            <a:ext cx="2514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1" dirty="0">
                <a:solidFill>
                  <a:srgbClr val="111111"/>
                </a:solidFill>
              </a:rPr>
              <a:t>03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6248400" y="5308600"/>
            <a:ext cx="25146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1" dirty="0">
                <a:solidFill>
                  <a:srgbClr val="111111"/>
                </a:solidFill>
              </a:rPr>
              <a:t>安全研究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6248400" y="5689600"/>
            <a:ext cx="25146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dirty="0">
                <a:solidFill>
                  <a:srgbClr val="4F4C47"/>
                </a:solidFill>
              </a:rPr>
              <a:t>找漏洞、提醒厂商修复</a:t>
            </a:r>
          </a:p>
        </p:txBody>
      </p:sp>
      <p:cxnSp>
        <p:nvCxnSpPr>
          <p:cNvPr id="33" name="Line 33"/>
          <p:cNvCxnSpPr/>
          <p:nvPr/>
        </p:nvCxnSpPr>
        <p:spPr>
          <a:xfrm>
            <a:off x="8915400" y="4749800"/>
            <a:ext cx="0" cy="1473200"/>
          </a:xfrm>
          <a:prstGeom prst="line">
            <a:avLst/>
          </a:prstGeom>
          <a:ln w="9525">
            <a:solidFill>
              <a:srgbClr val="CFC9BD"/>
            </a:solidFill>
          </a:ln>
        </p:spPr>
      </p:cxnSp>
      <p:sp>
        <p:nvSpPr>
          <p:cNvPr id="34" name="Text 34"/>
          <p:cNvSpPr txBox="1"/>
          <p:nvPr/>
        </p:nvSpPr>
        <p:spPr>
          <a:xfrm>
            <a:off x="9067800" y="4749800"/>
            <a:ext cx="2514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1" dirty="0">
                <a:solidFill>
                  <a:srgbClr val="C9260A"/>
                </a:solidFill>
              </a:rPr>
              <a:t>04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9067800" y="5308600"/>
            <a:ext cx="25146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1" dirty="0">
                <a:solidFill>
                  <a:srgbClr val="111111"/>
                </a:solidFill>
              </a:rPr>
              <a:t>做兼容插件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9067800" y="5689600"/>
            <a:ext cx="25146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dirty="0">
                <a:solidFill>
                  <a:srgbClr val="111111"/>
                </a:solidFill>
              </a:rPr>
              <a:t>我给 DeepSeek Harness 写过</a:t>
            </a:r>
          </a:p>
        </p:txBody>
      </p:sp>
    </p:spTree>
    <p:extLst>
      <p:ext uri="{BB962C8B-B14F-4D97-AF65-F5344CB8AC3E}">
        <p14:creationId xmlns:p14="http://schemas.microsoft.com/office/powerpoint/2010/main" val="264600509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1" dirty="0">
                <a:solidFill>
                  <a:srgbClr val="111111"/>
                </a:solidFill>
              </a:rPr>
              <a:t>AI 开发入门</a:t>
            </a:r>
            <a:r>
              <a:rPr lang="zh-CN" altLang="en-US" sz="1100" b="0" dirty="0">
                <a:solidFill>
                  <a:srgbClr val="4F4C47"/>
                </a:solidFill>
              </a:rPr>
              <a:t>　第一课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7772400" y="304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>
                <a:solidFill>
                  <a:srgbClr val="111111"/>
                </a:solidFill>
              </a:rPr>
              <a:t>07</a:t>
            </a:r>
            <a:r>
              <a:rPr lang="zh-CN" altLang="en-US" sz="1100" b="0">
                <a:solidFill>
                  <a:srgbClr val="4F4C47"/>
                </a:solidFill>
              </a:rPr>
              <a:t> / 13</a:t>
            </a:r>
            <a:endParaRPr lang="zh-CN" altLang="en-US" sz="1100" b="0" dirty="0">
              <a:solidFill>
                <a:srgbClr val="4F4C47"/>
              </a:solidFill>
            </a:endParaRPr>
          </a:p>
        </p:txBody>
      </p:sp>
      <p:cxnSp>
        <p:nvCxnSpPr>
          <p:cNvPr id="4" name="Line 4"/>
          <p:cNvCxnSpPr/>
          <p:nvPr/>
        </p:nvCxnSpPr>
        <p:spPr>
          <a:xfrm>
            <a:off x="609600" y="584200"/>
            <a:ext cx="10972800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09600" y="8382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>
                <a:solidFill>
                  <a:srgbClr val="C9260A"/>
                </a:solidFill>
              </a:rPr>
              <a:t>07</a:t>
            </a:r>
            <a:r>
              <a:rPr lang="zh-CN" altLang="en-US" sz="1400" b="1">
                <a:solidFill>
                  <a:srgbClr val="C9260A"/>
                </a:solidFill>
              </a:rPr>
              <a:t>　</a:t>
            </a:r>
            <a:r>
              <a:rPr lang="zh-CN" altLang="en-US" sz="1400" b="1" dirty="0">
                <a:solidFill>
                  <a:srgbClr val="C9260A"/>
                </a:solidFill>
              </a:rPr>
              <a:t>内网穿透</a:t>
            </a:r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600" b="1" dirty="0">
                <a:solidFill>
                  <a:srgbClr val="111111"/>
                </a:solidFill>
              </a:rPr>
              <a:t>内网穿透：从外面连回内网</a:t>
            </a:r>
          </a:p>
        </p:txBody>
      </p:sp>
      <p:sp>
        <p:nvSpPr>
          <p:cNvPr id="7" name="LAN Region"/>
          <p:cNvSpPr txBox="1"/>
          <p:nvPr/>
        </p:nvSpPr>
        <p:spPr>
          <a:xfrm>
            <a:off x="609600" y="2235200"/>
            <a:ext cx="3810000" cy="1905000"/>
          </a:xfrm>
          <a:prstGeom prst="rect">
            <a:avLst/>
          </a:prstGeom>
          <a:noFill/>
          <a:ln w="9525">
            <a:solidFill>
              <a:srgbClr val="111111"/>
            </a:solidFill>
            <a:prstDash val="dash"/>
          </a:ln>
        </p:spPr>
        <p:txBody>
          <a:bodyPr wrap="square" lIns="0" tIns="0" rIns="0" bIns="0" rtlCol="0" anchor="t">
            <a:noAutofit/>
          </a:bodyPr>
          <a:lstStyle/>
          <a:p>
            <a:endParaRPr lang="zh-CN" sz="1000" dirty="0"/>
          </a:p>
        </p:txBody>
      </p:sp>
      <p:sp>
        <p:nvSpPr>
          <p:cNvPr id="8" name="Text 8"/>
          <p:cNvSpPr txBox="1"/>
          <p:nvPr/>
        </p:nvSpPr>
        <p:spPr>
          <a:xfrm>
            <a:off x="812800" y="2362200"/>
            <a:ext cx="355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dirty="0">
                <a:solidFill>
                  <a:srgbClr val="4F4C47"/>
                </a:solidFill>
              </a:rPr>
              <a:t>内网（家 / 学校）</a:t>
            </a:r>
          </a:p>
        </p:txBody>
      </p:sp>
      <p:cxnSp>
        <p:nvCxnSpPr>
          <p:cNvPr id="9" name="Line 9"/>
          <p:cNvCxnSpPr/>
          <p:nvPr/>
        </p:nvCxnSpPr>
        <p:spPr>
          <a:xfrm>
            <a:off x="4419600" y="2235200"/>
            <a:ext cx="0" cy="1905000"/>
          </a:xfrm>
          <a:prstGeom prst="line">
            <a:avLst/>
          </a:prstGeom>
          <a:ln w="50800">
            <a:solidFill>
              <a:srgbClr val="111111"/>
            </a:solidFill>
          </a:ln>
        </p:spPr>
      </p:cxnSp>
      <p:sp>
        <p:nvSpPr>
          <p:cNvPr id="10" name="Text 10"/>
          <p:cNvSpPr txBox="1"/>
          <p:nvPr/>
        </p:nvSpPr>
        <p:spPr>
          <a:xfrm>
            <a:off x="609600" y="42672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dirty="0">
                <a:solidFill>
                  <a:srgbClr val="4F4C47"/>
                </a:solidFill>
              </a:rPr>
              <a:t>路由器默认把外部挡在门外</a:t>
            </a:r>
          </a:p>
        </p:txBody>
      </p:sp>
      <p:cxnSp>
        <p:nvCxnSpPr>
          <p:cNvPr id="11" name="Line 11"/>
          <p:cNvCxnSpPr/>
          <p:nvPr/>
        </p:nvCxnSpPr>
        <p:spPr>
          <a:xfrm>
            <a:off x="4013200" y="3251200"/>
            <a:ext cx="5181600" cy="0"/>
          </a:xfrm>
          <a:prstGeom prst="line">
            <a:avLst/>
          </a:prstGeom>
          <a:ln w="28575">
            <a:solidFill>
              <a:srgbClr val="C9260A"/>
            </a:solidFill>
            <a:headEnd type="triangle" w="med" len="med"/>
            <a:tailEnd type="triangle" w="med" len="med"/>
          </a:ln>
        </p:spPr>
      </p:cxnSp>
      <p:sp>
        <p:nvSpPr>
          <p:cNvPr id="12" name="Node 学习软件服务器"/>
          <p:cNvSpPr txBox="1"/>
          <p:nvPr/>
        </p:nvSpPr>
        <p:spPr>
          <a:xfrm>
            <a:off x="914400" y="2844800"/>
            <a:ext cx="3098800" cy="812800"/>
          </a:xfrm>
          <a:prstGeom prst="rect">
            <a:avLst/>
          </a:prstGeom>
          <a:solidFill>
            <a:srgbClr val="F2EFE8"/>
          </a:solidFill>
          <a:ln w="12700">
            <a:solidFill>
              <a:srgbClr val="11111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1" dirty="0">
                <a:solidFill>
                  <a:srgbClr val="111111"/>
                </a:solidFill>
              </a:rPr>
              <a:t>学习软件服务器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altLang="en-US" sz="1300" b="1" dirty="0">
                <a:solidFill>
                  <a:srgbClr val="C9260A"/>
                </a:solidFill>
                <a:latin typeface="Consolas"/>
                <a:ea typeface="Microsoft YaHei"/>
              </a:rPr>
              <a:t>:8080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5334000" y="2413000"/>
            <a:ext cx="2413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dirty="0">
                <a:solidFill>
                  <a:srgbClr val="C9260A"/>
                </a:solidFill>
              </a:rPr>
              <a:t>内网穿透 · 打一条隧道</a:t>
            </a:r>
          </a:p>
        </p:txBody>
      </p:sp>
      <p:sp>
        <p:nvSpPr>
          <p:cNvPr id="14" name="Node 穿透中转"/>
          <p:cNvSpPr txBox="1"/>
          <p:nvPr/>
        </p:nvSpPr>
        <p:spPr>
          <a:xfrm>
            <a:off x="5461000" y="2870200"/>
            <a:ext cx="2159000" cy="762000"/>
          </a:xfrm>
          <a:prstGeom prst="rect">
            <a:avLst/>
          </a:prstGeom>
          <a:solidFill>
            <a:srgbClr val="C9260A"/>
          </a:solidFill>
          <a:ln w="12700">
            <a:solidFill>
              <a:srgbClr val="C9260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1" dirty="0">
                <a:solidFill>
                  <a:srgbClr val="F2EFE8"/>
                </a:solidFill>
              </a:rPr>
              <a:t>穿透中转</a:t>
            </a:r>
          </a:p>
        </p:txBody>
      </p:sp>
      <p:sp>
        <p:nvSpPr>
          <p:cNvPr id="15" name="Node 在外面的你"/>
          <p:cNvSpPr txBox="1"/>
          <p:nvPr/>
        </p:nvSpPr>
        <p:spPr>
          <a:xfrm>
            <a:off x="9194800" y="2870200"/>
            <a:ext cx="2387600" cy="762000"/>
          </a:xfrm>
          <a:prstGeom prst="rect">
            <a:avLst/>
          </a:prstGeom>
          <a:solidFill>
            <a:srgbClr val="F2EFE8"/>
          </a:solidFill>
          <a:ln w="12700">
            <a:solidFill>
              <a:srgbClr val="11111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1" dirty="0">
                <a:solidFill>
                  <a:srgbClr val="111111"/>
                </a:solidFill>
              </a:rPr>
              <a:t>在外面的你</a:t>
            </a:r>
          </a:p>
        </p:txBody>
      </p:sp>
      <p:cxnSp>
        <p:nvCxnSpPr>
          <p:cNvPr id="16" name="Line 16"/>
          <p:cNvCxnSpPr/>
          <p:nvPr/>
        </p:nvCxnSpPr>
        <p:spPr>
          <a:xfrm>
            <a:off x="609600" y="4876800"/>
            <a:ext cx="5232400" cy="0"/>
          </a:xfrm>
          <a:prstGeom prst="line">
            <a:avLst/>
          </a:prstGeom>
          <a:ln w="38100">
            <a:solidFill>
              <a:srgbClr val="111111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6350000" y="4876800"/>
            <a:ext cx="5232400" cy="0"/>
          </a:xfrm>
          <a:prstGeom prst="line">
            <a:avLst/>
          </a:prstGeom>
          <a:ln w="38100">
            <a:solidFill>
              <a:srgbClr val="111111"/>
            </a:solidFill>
          </a:ln>
        </p:spPr>
      </p:cxnSp>
      <p:sp>
        <p:nvSpPr>
          <p:cNvPr id="18" name="Text 18"/>
          <p:cNvSpPr txBox="1"/>
          <p:nvPr/>
        </p:nvSpPr>
        <p:spPr>
          <a:xfrm>
            <a:off x="609600" y="5029200"/>
            <a:ext cx="5232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dirty="0">
                <a:solidFill>
                  <a:srgbClr val="4F4C47"/>
                </a:solidFill>
              </a:rPr>
              <a:t>场景一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609600" y="5334000"/>
            <a:ext cx="5232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111111"/>
                </a:solidFill>
              </a:rPr>
              <a:t>和朋友远程联机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609600" y="5765800"/>
            <a:ext cx="52324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dirty="0">
                <a:solidFill>
                  <a:srgbClr val="4F4C47"/>
                </a:solidFill>
              </a:rPr>
              <a:t>在家开 Minecraft 服务器，外地同学也能进来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6350000" y="5029200"/>
            <a:ext cx="5232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dirty="0">
                <a:solidFill>
                  <a:srgbClr val="4F4C47"/>
                </a:solidFill>
              </a:rPr>
              <a:t>场景二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6350000" y="5334000"/>
            <a:ext cx="5232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111111"/>
                </a:solidFill>
              </a:rPr>
              <a:t>在外访问自搭服务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6350000" y="5765800"/>
            <a:ext cx="52324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dirty="0">
                <a:solidFill>
                  <a:srgbClr val="4F4C47"/>
                </a:solidFill>
              </a:rPr>
              <a:t>出门也能连回我的 WordSnap 开发服务器</a:t>
            </a:r>
          </a:p>
        </p:txBody>
      </p:sp>
    </p:spTree>
    <p:extLst>
      <p:ext uri="{BB962C8B-B14F-4D97-AF65-F5344CB8AC3E}">
        <p14:creationId xmlns:p14="http://schemas.microsoft.com/office/powerpoint/2010/main" val="327922888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/>
      <p:bldP spid="14" grpId="0" animBg="1"/>
      <p:bldP spid="15" grpId="0" animBg="1"/>
      <p:bldP spid="16" grpId="0" animBg="1"/>
      <p:bldP spid="17" grpId="0" animBg="1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1" dirty="0">
                <a:solidFill>
                  <a:srgbClr val="111111"/>
                </a:solidFill>
              </a:rPr>
              <a:t>AI 开发入门</a:t>
            </a:r>
            <a:r>
              <a:rPr lang="zh-CN" altLang="en-US" sz="1100" b="0" dirty="0">
                <a:solidFill>
                  <a:srgbClr val="4F4C47"/>
                </a:solidFill>
              </a:rPr>
              <a:t>　第一课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7772400" y="304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>
                <a:solidFill>
                  <a:srgbClr val="111111"/>
                </a:solidFill>
              </a:rPr>
              <a:t>08</a:t>
            </a:r>
            <a:r>
              <a:rPr lang="zh-CN" altLang="en-US" sz="1100" b="0">
                <a:solidFill>
                  <a:srgbClr val="4F4C47"/>
                </a:solidFill>
              </a:rPr>
              <a:t> / 13</a:t>
            </a:r>
            <a:endParaRPr lang="zh-CN" altLang="en-US" sz="1100" b="0" dirty="0">
              <a:solidFill>
                <a:srgbClr val="4F4C47"/>
              </a:solidFill>
            </a:endParaRPr>
          </a:p>
        </p:txBody>
      </p:sp>
      <p:cxnSp>
        <p:nvCxnSpPr>
          <p:cNvPr id="4" name="Line 4"/>
          <p:cNvCxnSpPr/>
          <p:nvPr/>
        </p:nvCxnSpPr>
        <p:spPr>
          <a:xfrm>
            <a:off x="609600" y="584200"/>
            <a:ext cx="10972800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09600" y="8382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>
                <a:solidFill>
                  <a:srgbClr val="C9260A"/>
                </a:solidFill>
              </a:rPr>
              <a:t>08</a:t>
            </a:r>
            <a:r>
              <a:rPr lang="zh-CN" altLang="en-US" sz="1400" b="1">
                <a:solidFill>
                  <a:srgbClr val="C9260A"/>
                </a:solidFill>
              </a:rPr>
              <a:t>　</a:t>
            </a:r>
            <a:r>
              <a:rPr lang="zh-CN" altLang="en-US" sz="1400" b="1" dirty="0">
                <a:solidFill>
                  <a:srgbClr val="C9260A"/>
                </a:solidFill>
              </a:rPr>
              <a:t>跨境访问</a:t>
            </a:r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600" b="1" dirty="0">
                <a:solidFill>
                  <a:srgbClr val="111111"/>
                </a:solidFill>
              </a:rPr>
              <a:t>为什么要 Proxy / VPN</a:t>
            </a:r>
          </a:p>
        </p:txBody>
      </p:sp>
      <p:cxnSp>
        <p:nvCxnSpPr>
          <p:cNvPr id="7" name="Line 7"/>
          <p:cNvCxnSpPr/>
          <p:nvPr/>
        </p:nvCxnSpPr>
        <p:spPr>
          <a:xfrm>
            <a:off x="3149600" y="2590800"/>
            <a:ext cx="1676400" cy="0"/>
          </a:xfrm>
          <a:prstGeom prst="line">
            <a:avLst/>
          </a:prstGeom>
          <a:ln w="15875">
            <a:solidFill>
              <a:srgbClr val="111111"/>
            </a:solidFill>
            <a:headEnd type="triangle" w="med" len="med"/>
            <a:tailEnd type="triangle" w="med" len="med"/>
          </a:ln>
        </p:spPr>
      </p:cxnSp>
      <p:cxnSp>
        <p:nvCxnSpPr>
          <p:cNvPr id="8" name="Line 8"/>
          <p:cNvCxnSpPr/>
          <p:nvPr/>
        </p:nvCxnSpPr>
        <p:spPr>
          <a:xfrm>
            <a:off x="7366000" y="2590800"/>
            <a:ext cx="1676400" cy="0"/>
          </a:xfrm>
          <a:prstGeom prst="line">
            <a:avLst/>
          </a:prstGeom>
          <a:ln w="15875">
            <a:solidFill>
              <a:srgbClr val="111111"/>
            </a:solidFill>
            <a:headEnd type="triangle" w="med" len="med"/>
            <a:tailEnd type="triangle" w="med" len="med"/>
          </a:ln>
        </p:spPr>
      </p:cxnSp>
      <p:sp>
        <p:nvSpPr>
          <p:cNvPr id="9" name="Node 你（在中国）"/>
          <p:cNvSpPr txBox="1"/>
          <p:nvPr/>
        </p:nvSpPr>
        <p:spPr>
          <a:xfrm>
            <a:off x="609600" y="2235200"/>
            <a:ext cx="2540000" cy="711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1111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1" dirty="0">
                <a:solidFill>
                  <a:srgbClr val="111111"/>
                </a:solidFill>
              </a:rPr>
              <a:t>你（在中国）</a:t>
            </a:r>
          </a:p>
        </p:txBody>
      </p:sp>
      <p:sp>
        <p:nvSpPr>
          <p:cNvPr id="10" name="Node 代理 / VPN 中转"/>
          <p:cNvSpPr txBox="1"/>
          <p:nvPr/>
        </p:nvSpPr>
        <p:spPr>
          <a:xfrm>
            <a:off x="4826000" y="2235200"/>
            <a:ext cx="2540000" cy="711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1" dirty="0">
                <a:solidFill>
                  <a:srgbClr val="F2EFE8"/>
                </a:solidFill>
              </a:rPr>
              <a:t>代理 / VPN 中转</a:t>
            </a:r>
          </a:p>
        </p:txBody>
      </p:sp>
      <p:sp>
        <p:nvSpPr>
          <p:cNvPr id="11" name="Node 境外服务器"/>
          <p:cNvSpPr txBox="1"/>
          <p:nvPr/>
        </p:nvSpPr>
        <p:spPr>
          <a:xfrm>
            <a:off x="9042400" y="2235200"/>
            <a:ext cx="2540000" cy="711200"/>
          </a:xfrm>
          <a:prstGeom prst="rect">
            <a:avLst/>
          </a:prstGeom>
          <a:solidFill>
            <a:srgbClr val="F2EFE8"/>
          </a:solidFill>
          <a:ln w="12700">
            <a:solidFill>
              <a:srgbClr val="11111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1" dirty="0">
                <a:solidFill>
                  <a:srgbClr val="111111"/>
                </a:solidFill>
              </a:rPr>
              <a:t>境外服务器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3556000" y="30480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dirty="0">
                <a:solidFill>
                  <a:srgbClr val="4F4C47"/>
                </a:solidFill>
              </a:rPr>
              <a:t>把请求带出去，再把结果带回来</a:t>
            </a:r>
          </a:p>
        </p:txBody>
      </p:sp>
      <p:cxnSp>
        <p:nvCxnSpPr>
          <p:cNvPr id="13" name="Line 13"/>
          <p:cNvCxnSpPr/>
          <p:nvPr/>
        </p:nvCxnSpPr>
        <p:spPr>
          <a:xfrm>
            <a:off x="609600" y="3759200"/>
            <a:ext cx="5232400" cy="0"/>
          </a:xfrm>
          <a:prstGeom prst="line">
            <a:avLst/>
          </a:prstGeom>
          <a:ln w="38100">
            <a:solidFill>
              <a:srgbClr val="111111"/>
            </a:solidFill>
          </a:ln>
        </p:spPr>
      </p:cxnSp>
      <p:sp>
        <p:nvSpPr>
          <p:cNvPr id="14" name="Text 14"/>
          <p:cNvSpPr txBox="1"/>
          <p:nvPr/>
        </p:nvSpPr>
        <p:spPr>
          <a:xfrm>
            <a:off x="609600" y="3911600"/>
            <a:ext cx="52324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400" b="1" dirty="0">
                <a:solidFill>
                  <a:srgbClr val="111111"/>
                </a:solidFill>
              </a:rPr>
              <a:t>GitHub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609600" y="4775200"/>
            <a:ext cx="52324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dirty="0">
                <a:solidFill>
                  <a:srgbClr val="4F4C47"/>
                </a:solidFill>
              </a:rPr>
              <a:t>代码托管在境外，但国内通常能直接访问。</a:t>
            </a:r>
          </a:p>
        </p:txBody>
      </p:sp>
      <p:sp>
        <p:nvSpPr>
          <p:cNvPr id="16" name="Status GitHub"/>
          <p:cNvSpPr txBox="1"/>
          <p:nvPr/>
        </p:nvSpPr>
        <p:spPr>
          <a:xfrm>
            <a:off x="609600" y="5588000"/>
            <a:ext cx="1473200" cy="381000"/>
          </a:xfrm>
          <a:prstGeom prst="rect">
            <a:avLst/>
          </a:prstGeom>
          <a:noFill/>
          <a:ln w="12700">
            <a:solidFill>
              <a:srgbClr val="11111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dirty="0">
                <a:solidFill>
                  <a:srgbClr val="111111"/>
                </a:solidFill>
              </a:rPr>
              <a:t>一般可直连</a:t>
            </a:r>
          </a:p>
        </p:txBody>
      </p:sp>
      <p:cxnSp>
        <p:nvCxnSpPr>
          <p:cNvPr id="17" name="Line 17"/>
          <p:cNvCxnSpPr/>
          <p:nvPr/>
        </p:nvCxnSpPr>
        <p:spPr>
          <a:xfrm>
            <a:off x="6350000" y="3759200"/>
            <a:ext cx="5232400" cy="0"/>
          </a:xfrm>
          <a:prstGeom prst="line">
            <a:avLst/>
          </a:prstGeom>
          <a:ln w="38100">
            <a:solidFill>
              <a:srgbClr val="111111"/>
            </a:solidFill>
          </a:ln>
        </p:spPr>
      </p:cxnSp>
      <p:sp>
        <p:nvSpPr>
          <p:cNvPr id="18" name="Text 18"/>
          <p:cNvSpPr txBox="1"/>
          <p:nvPr/>
        </p:nvSpPr>
        <p:spPr>
          <a:xfrm>
            <a:off x="6350000" y="3911600"/>
            <a:ext cx="52324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400" b="1" dirty="0">
                <a:solidFill>
                  <a:srgbClr val="111111"/>
                </a:solidFill>
              </a:rPr>
              <a:t>Claude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6350000" y="4775200"/>
            <a:ext cx="52324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dirty="0">
                <a:solidFill>
                  <a:srgbClr val="4F4C47"/>
                </a:solidFill>
              </a:rPr>
              <a:t>访问受限，必须走 Proxy / VPN 才能用。</a:t>
            </a:r>
          </a:p>
        </p:txBody>
      </p:sp>
      <p:sp>
        <p:nvSpPr>
          <p:cNvPr id="20" name="Status Claude"/>
          <p:cNvSpPr txBox="1"/>
          <p:nvPr/>
        </p:nvSpPr>
        <p:spPr>
          <a:xfrm>
            <a:off x="6350000" y="5588000"/>
            <a:ext cx="1320800" cy="381000"/>
          </a:xfrm>
          <a:prstGeom prst="rect">
            <a:avLst/>
          </a:prstGeom>
          <a:solidFill>
            <a:srgbClr val="C9260A"/>
          </a:solidFill>
          <a:ln w="12700">
            <a:solidFill>
              <a:srgbClr val="C9260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dirty="0">
                <a:solidFill>
                  <a:srgbClr val="F2EFE8"/>
                </a:solidFill>
              </a:rPr>
              <a:t>需要代理</a:t>
            </a:r>
          </a:p>
        </p:txBody>
      </p:sp>
    </p:spTree>
    <p:extLst>
      <p:ext uri="{BB962C8B-B14F-4D97-AF65-F5344CB8AC3E}">
        <p14:creationId xmlns:p14="http://schemas.microsoft.com/office/powerpoint/2010/main" val="201410219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2" grpId="0"/>
      <p:bldP spid="13" grpId="0" animBg="1"/>
      <p:bldP spid="14" grpId="0"/>
      <p:bldP spid="15" grpId="0"/>
      <p:bldP spid="16" grpId="0" animBg="1"/>
      <p:bldP spid="17" grpId="0" animBg="1"/>
      <p:bldP spid="18" grpId="0"/>
      <p:bldP spid="19" grpId="0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1" dirty="0">
                <a:solidFill>
                  <a:srgbClr val="111111"/>
                </a:solidFill>
              </a:rPr>
              <a:t>AI 开发入门</a:t>
            </a:r>
            <a:r>
              <a:rPr lang="zh-CN" altLang="en-US" sz="1100" b="0" dirty="0">
                <a:solidFill>
                  <a:srgbClr val="4F4C47"/>
                </a:solidFill>
              </a:rPr>
              <a:t>　第一课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7772400" y="304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>
                <a:solidFill>
                  <a:srgbClr val="111111"/>
                </a:solidFill>
              </a:rPr>
              <a:t>09</a:t>
            </a:r>
            <a:r>
              <a:rPr lang="zh-CN" altLang="en-US" sz="1100" b="0">
                <a:solidFill>
                  <a:srgbClr val="4F4C47"/>
                </a:solidFill>
              </a:rPr>
              <a:t> / 13</a:t>
            </a:r>
            <a:endParaRPr lang="zh-CN" altLang="en-US" sz="1100" b="0" dirty="0">
              <a:solidFill>
                <a:srgbClr val="4F4C47"/>
              </a:solidFill>
            </a:endParaRPr>
          </a:p>
        </p:txBody>
      </p:sp>
      <p:cxnSp>
        <p:nvCxnSpPr>
          <p:cNvPr id="4" name="Line 4"/>
          <p:cNvCxnSpPr/>
          <p:nvPr/>
        </p:nvCxnSpPr>
        <p:spPr>
          <a:xfrm>
            <a:off x="609600" y="584200"/>
            <a:ext cx="10972800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09600" y="8382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>
                <a:solidFill>
                  <a:srgbClr val="C9260A"/>
                </a:solidFill>
              </a:rPr>
              <a:t>09</a:t>
            </a:r>
            <a:r>
              <a:rPr lang="zh-CN" altLang="en-US" sz="1400" b="1">
                <a:solidFill>
                  <a:srgbClr val="C9260A"/>
                </a:solidFill>
              </a:rPr>
              <a:t>　</a:t>
            </a:r>
            <a:r>
              <a:rPr lang="zh-CN" altLang="en-US" sz="1400" b="1" dirty="0">
                <a:solidFill>
                  <a:srgbClr val="C9260A"/>
                </a:solidFill>
              </a:rPr>
              <a:t>代理机制</a:t>
            </a:r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600" b="1" dirty="0">
                <a:solidFill>
                  <a:srgbClr val="111111"/>
                </a:solidFill>
              </a:rPr>
              <a:t>代理的两个维度</a:t>
            </a:r>
          </a:p>
        </p:txBody>
      </p:sp>
      <p:cxnSp>
        <p:nvCxnSpPr>
          <p:cNvPr id="7" name="Line 7"/>
          <p:cNvCxnSpPr/>
          <p:nvPr/>
        </p:nvCxnSpPr>
        <p:spPr>
          <a:xfrm>
            <a:off x="609600" y="2133600"/>
            <a:ext cx="10972800" cy="0"/>
          </a:xfrm>
          <a:prstGeom prst="line">
            <a:avLst/>
          </a:prstGeom>
          <a:ln w="38100">
            <a:solidFill>
              <a:srgbClr val="111111"/>
            </a:solidFill>
          </a:ln>
        </p:spPr>
      </p:cxnSp>
      <p:sp>
        <p:nvSpPr>
          <p:cNvPr id="8" name="Text 8"/>
          <p:cNvSpPr txBox="1"/>
          <p:nvPr/>
        </p:nvSpPr>
        <p:spPr>
          <a:xfrm>
            <a:off x="609600" y="2286000"/>
            <a:ext cx="2641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C9260A"/>
                </a:solidFill>
              </a:rPr>
              <a:t>① </a:t>
            </a:r>
            <a:r>
              <a:rPr lang="zh-CN" altLang="en-US" sz="2000" b="1" dirty="0">
                <a:solidFill>
                  <a:srgbClr val="111111"/>
                </a:solidFill>
              </a:rPr>
              <a:t>连接规则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09600" y="2692400"/>
            <a:ext cx="2641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dirty="0">
                <a:solidFill>
                  <a:srgbClr val="4F4C47"/>
                </a:solidFill>
              </a:rPr>
              <a:t>哪些流量走代理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3556000" y="22860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111111"/>
                </a:solidFill>
              </a:rPr>
              <a:t>虚拟网卡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3556000" y="2692400"/>
            <a:ext cx="381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dirty="0">
                <a:solidFill>
                  <a:srgbClr val="4F4C47"/>
                </a:solidFill>
              </a:rPr>
              <a:t>只让需要的流量走代理，其余照常</a:t>
            </a:r>
          </a:p>
        </p:txBody>
      </p:sp>
      <p:cxnSp>
        <p:nvCxnSpPr>
          <p:cNvPr id="12" name="Line 12"/>
          <p:cNvCxnSpPr/>
          <p:nvPr/>
        </p:nvCxnSpPr>
        <p:spPr>
          <a:xfrm>
            <a:off x="7569200" y="2286000"/>
            <a:ext cx="0" cy="889000"/>
          </a:xfrm>
          <a:prstGeom prst="line">
            <a:avLst/>
          </a:prstGeom>
          <a:ln w="9525">
            <a:solidFill>
              <a:srgbClr val="CFC9BD"/>
            </a:solidFill>
          </a:ln>
        </p:spPr>
      </p:cxnSp>
      <p:sp>
        <p:nvSpPr>
          <p:cNvPr id="13" name="Text 13"/>
          <p:cNvSpPr txBox="1"/>
          <p:nvPr/>
        </p:nvSpPr>
        <p:spPr>
          <a:xfrm>
            <a:off x="7772400" y="22860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111111"/>
                </a:solidFill>
              </a:rPr>
              <a:t>全局模式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7772400" y="2692400"/>
            <a:ext cx="381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dirty="0">
                <a:solidFill>
                  <a:srgbClr val="4F4C47"/>
                </a:solidFill>
              </a:rPr>
              <a:t>所有网络流量都从代理走</a:t>
            </a:r>
          </a:p>
        </p:txBody>
      </p:sp>
      <p:cxnSp>
        <p:nvCxnSpPr>
          <p:cNvPr id="15" name="Line 15"/>
          <p:cNvCxnSpPr/>
          <p:nvPr/>
        </p:nvCxnSpPr>
        <p:spPr>
          <a:xfrm>
            <a:off x="609600" y="3454400"/>
            <a:ext cx="10972800" cy="0"/>
          </a:xfrm>
          <a:prstGeom prst="line">
            <a:avLst/>
          </a:prstGeom>
          <a:ln w="38100">
            <a:solidFill>
              <a:srgbClr val="111111"/>
            </a:solidFill>
          </a:ln>
        </p:spPr>
      </p:cxnSp>
      <p:sp>
        <p:nvSpPr>
          <p:cNvPr id="16" name="Text 16"/>
          <p:cNvSpPr txBox="1"/>
          <p:nvPr/>
        </p:nvSpPr>
        <p:spPr>
          <a:xfrm>
            <a:off x="609600" y="3606800"/>
            <a:ext cx="2641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C9260A"/>
                </a:solidFill>
              </a:rPr>
              <a:t>② </a:t>
            </a:r>
            <a:r>
              <a:rPr lang="zh-CN" altLang="en-US" sz="2000" b="1" dirty="0">
                <a:solidFill>
                  <a:srgbClr val="111111"/>
                </a:solidFill>
              </a:rPr>
              <a:t>节点类型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609600" y="4013200"/>
            <a:ext cx="2641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dirty="0">
                <a:solidFill>
                  <a:srgbClr val="4F4C47"/>
                </a:solidFill>
              </a:rPr>
              <a:t>会不会被平台识别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3556000" y="36068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111111"/>
                </a:solidFill>
              </a:rPr>
              <a:t>共享节点</a:t>
            </a:r>
          </a:p>
        </p:txBody>
      </p:sp>
      <p:cxnSp>
        <p:nvCxnSpPr>
          <p:cNvPr id="19" name="Line 19"/>
          <p:cNvCxnSpPr/>
          <p:nvPr/>
        </p:nvCxnSpPr>
        <p:spPr>
          <a:xfrm>
            <a:off x="3708400" y="4267200"/>
            <a:ext cx="736600" cy="330200"/>
          </a:xfrm>
          <a:prstGeom prst="line">
            <a:avLst/>
          </a:prstGeom>
          <a:ln w="9525">
            <a:solidFill>
              <a:srgbClr val="4F4C47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3708400" y="4597400"/>
            <a:ext cx="736600" cy="0"/>
          </a:xfrm>
          <a:prstGeom prst="line">
            <a:avLst/>
          </a:prstGeom>
          <a:ln w="9525">
            <a:solidFill>
              <a:srgbClr val="4F4C47"/>
            </a:solidFill>
          </a:ln>
        </p:spPr>
      </p:cxnSp>
      <p:cxnSp>
        <p:nvCxnSpPr>
          <p:cNvPr id="21" name="Line 21"/>
          <p:cNvCxnSpPr/>
          <p:nvPr/>
        </p:nvCxnSpPr>
        <p:spPr>
          <a:xfrm flipV="1">
            <a:off x="3708400" y="4597400"/>
            <a:ext cx="736600" cy="330200"/>
          </a:xfrm>
          <a:prstGeom prst="line">
            <a:avLst/>
          </a:prstGeom>
          <a:ln w="9525">
            <a:solidFill>
              <a:srgbClr val="4F4C47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5867400" y="4597400"/>
            <a:ext cx="685800" cy="0"/>
          </a:xfrm>
          <a:prstGeom prst="line">
            <a:avLst/>
          </a:prstGeom>
          <a:ln w="12700">
            <a:solidFill>
              <a:srgbClr val="111111"/>
            </a:solidFill>
            <a:tailEnd type="triangle" w="med" len="med"/>
          </a:ln>
        </p:spPr>
      </p:cxnSp>
      <p:sp>
        <p:nvSpPr>
          <p:cNvPr id="23" name="Dot"/>
          <p:cNvSpPr txBox="1"/>
          <p:nvPr/>
        </p:nvSpPr>
        <p:spPr>
          <a:xfrm>
            <a:off x="3606800" y="4216400"/>
            <a:ext cx="114300" cy="1143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zh-CN" sz="1000" dirty="0"/>
          </a:p>
        </p:txBody>
      </p:sp>
      <p:sp>
        <p:nvSpPr>
          <p:cNvPr id="24" name="Dot"/>
          <p:cNvSpPr txBox="1"/>
          <p:nvPr/>
        </p:nvSpPr>
        <p:spPr>
          <a:xfrm>
            <a:off x="3606800" y="4546600"/>
            <a:ext cx="114300" cy="1143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zh-CN" sz="1000" dirty="0"/>
          </a:p>
        </p:txBody>
      </p:sp>
      <p:sp>
        <p:nvSpPr>
          <p:cNvPr id="25" name="Dot"/>
          <p:cNvSpPr txBox="1"/>
          <p:nvPr/>
        </p:nvSpPr>
        <p:spPr>
          <a:xfrm>
            <a:off x="3606800" y="4876800"/>
            <a:ext cx="114300" cy="1143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zh-CN" sz="1000" dirty="0"/>
          </a:p>
        </p:txBody>
      </p:sp>
      <p:sp>
        <p:nvSpPr>
          <p:cNvPr id="26" name="Text 26"/>
          <p:cNvSpPr txBox="1"/>
          <p:nvPr/>
        </p:nvSpPr>
        <p:spPr>
          <a:xfrm>
            <a:off x="4445000" y="4343400"/>
            <a:ext cx="1422400" cy="508000"/>
          </a:xfrm>
          <a:prstGeom prst="rect">
            <a:avLst/>
          </a:prstGeom>
          <a:solidFill>
            <a:srgbClr val="F2EFE8"/>
          </a:solidFill>
          <a:ln w="12700">
            <a:solidFill>
              <a:srgbClr val="11111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dirty="0">
                <a:solidFill>
                  <a:srgbClr val="111111"/>
                </a:solidFill>
              </a:rPr>
              <a:t>共享出口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6629400" y="4445000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dirty="0">
                <a:solidFill>
                  <a:srgbClr val="4F4C47"/>
                </a:solidFill>
              </a:rPr>
              <a:t>境外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3556000" y="5207000"/>
            <a:ext cx="381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dirty="0">
                <a:solidFill>
                  <a:srgbClr val="4F4C47"/>
                </a:solidFill>
              </a:rPr>
              <a:t>千万 IP 挤一个出口，容易被识别、被封号。</a:t>
            </a:r>
          </a:p>
        </p:txBody>
      </p:sp>
      <p:cxnSp>
        <p:nvCxnSpPr>
          <p:cNvPr id="29" name="Line 29"/>
          <p:cNvCxnSpPr/>
          <p:nvPr/>
        </p:nvCxnSpPr>
        <p:spPr>
          <a:xfrm>
            <a:off x="7569200" y="3606800"/>
            <a:ext cx="0" cy="2489200"/>
          </a:xfrm>
          <a:prstGeom prst="line">
            <a:avLst/>
          </a:prstGeom>
          <a:ln w="9525">
            <a:solidFill>
              <a:srgbClr val="CFC9BD"/>
            </a:solidFill>
          </a:ln>
        </p:spPr>
      </p:cxnSp>
      <p:sp>
        <p:nvSpPr>
          <p:cNvPr id="30" name="Text 30"/>
          <p:cNvSpPr txBox="1"/>
          <p:nvPr/>
        </p:nvSpPr>
        <p:spPr>
          <a:xfrm>
            <a:off x="7772400" y="36068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111111"/>
                </a:solidFill>
              </a:rPr>
              <a:t>独享节点</a:t>
            </a:r>
            <a:r>
              <a:rPr lang="zh-CN" altLang="en-US" sz="1400" b="1" dirty="0">
                <a:solidFill>
                  <a:srgbClr val="C9260A"/>
                </a:solidFill>
              </a:rPr>
              <a:t>　推荐</a:t>
            </a:r>
          </a:p>
        </p:txBody>
      </p:sp>
      <p:cxnSp>
        <p:nvCxnSpPr>
          <p:cNvPr id="31" name="Line 31"/>
          <p:cNvCxnSpPr/>
          <p:nvPr/>
        </p:nvCxnSpPr>
        <p:spPr>
          <a:xfrm>
            <a:off x="7950200" y="4597400"/>
            <a:ext cx="228600" cy="0"/>
          </a:xfrm>
          <a:prstGeom prst="line">
            <a:avLst/>
          </a:prstGeom>
          <a:ln w="15875">
            <a:solidFill>
              <a:srgbClr val="C9260A"/>
            </a:solidFill>
          </a:ln>
        </p:spPr>
      </p:cxnSp>
      <p:sp>
        <p:nvSpPr>
          <p:cNvPr id="32" name="Dot"/>
          <p:cNvSpPr txBox="1"/>
          <p:nvPr/>
        </p:nvSpPr>
        <p:spPr>
          <a:xfrm>
            <a:off x="7823200" y="4533900"/>
            <a:ext cx="127000" cy="127000"/>
          </a:xfrm>
          <a:prstGeom prst="ellipse">
            <a:avLst/>
          </a:prstGeom>
          <a:solidFill>
            <a:srgbClr val="C9260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zh-CN" sz="1000" dirty="0"/>
          </a:p>
        </p:txBody>
      </p:sp>
      <p:cxnSp>
        <p:nvCxnSpPr>
          <p:cNvPr id="33" name="Line 33"/>
          <p:cNvCxnSpPr/>
          <p:nvPr/>
        </p:nvCxnSpPr>
        <p:spPr>
          <a:xfrm>
            <a:off x="10591800" y="4597400"/>
            <a:ext cx="406400" cy="0"/>
          </a:xfrm>
          <a:prstGeom prst="line">
            <a:avLst/>
          </a:prstGeom>
          <a:ln w="12700">
            <a:solidFill>
              <a:srgbClr val="111111"/>
            </a:solidFill>
            <a:tailEnd type="triangle" w="med" len="med"/>
          </a:ln>
        </p:spPr>
      </p:cxnSp>
      <p:sp>
        <p:nvSpPr>
          <p:cNvPr id="34" name="Text 34"/>
          <p:cNvSpPr txBox="1"/>
          <p:nvPr/>
        </p:nvSpPr>
        <p:spPr>
          <a:xfrm>
            <a:off x="8178800" y="4343400"/>
            <a:ext cx="2413000" cy="508000"/>
          </a:xfrm>
          <a:prstGeom prst="rect">
            <a:avLst/>
          </a:prstGeom>
          <a:solidFill>
            <a:srgbClr val="C9260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dirty="0">
                <a:solidFill>
                  <a:srgbClr val="F2EFE8"/>
                </a:solidFill>
              </a:rPr>
              <a:t>你的专属服务器 · 美国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11049000" y="44450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dirty="0">
                <a:solidFill>
                  <a:srgbClr val="4F4C47"/>
                </a:solidFill>
              </a:rPr>
              <a:t>境外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7772400" y="5207000"/>
            <a:ext cx="381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0" dirty="0">
                <a:solidFill>
                  <a:srgbClr val="111111"/>
                </a:solidFill>
              </a:rPr>
              <a:t>自己一台服务器，一进一出、私人 IP，不易被检测。</a:t>
            </a:r>
          </a:p>
        </p:txBody>
      </p:sp>
      <p:cxnSp>
        <p:nvCxnSpPr>
          <p:cNvPr id="37" name="Line 37"/>
          <p:cNvCxnSpPr/>
          <p:nvPr/>
        </p:nvCxnSpPr>
        <p:spPr>
          <a:xfrm>
            <a:off x="609600" y="6146800"/>
            <a:ext cx="10972800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</p:spTree>
    <p:extLst>
      <p:ext uri="{BB962C8B-B14F-4D97-AF65-F5344CB8AC3E}">
        <p14:creationId xmlns:p14="http://schemas.microsoft.com/office/powerpoint/2010/main" val="3171833232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1" dirty="0">
                <a:solidFill>
                  <a:srgbClr val="111111"/>
                </a:solidFill>
              </a:rPr>
              <a:t>AI 开发入门</a:t>
            </a:r>
            <a:r>
              <a:rPr lang="zh-CN" altLang="en-US" sz="1100" b="0" dirty="0">
                <a:solidFill>
                  <a:srgbClr val="4F4C47"/>
                </a:solidFill>
              </a:rPr>
              <a:t>　第一课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7772400" y="304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>
                <a:solidFill>
                  <a:srgbClr val="111111"/>
                </a:solidFill>
              </a:rPr>
              <a:t>10</a:t>
            </a:r>
            <a:r>
              <a:rPr lang="zh-CN" altLang="en-US" sz="1100" b="0">
                <a:solidFill>
                  <a:srgbClr val="4F4C47"/>
                </a:solidFill>
              </a:rPr>
              <a:t> / 13</a:t>
            </a:r>
            <a:endParaRPr lang="zh-CN" altLang="en-US" sz="1100" b="0" dirty="0">
              <a:solidFill>
                <a:srgbClr val="4F4C47"/>
              </a:solidFill>
            </a:endParaRPr>
          </a:p>
        </p:txBody>
      </p:sp>
      <p:cxnSp>
        <p:nvCxnSpPr>
          <p:cNvPr id="4" name="Line 4"/>
          <p:cNvCxnSpPr/>
          <p:nvPr/>
        </p:nvCxnSpPr>
        <p:spPr>
          <a:xfrm>
            <a:off x="609600" y="584200"/>
            <a:ext cx="10972800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09600" y="8382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>
                <a:solidFill>
                  <a:srgbClr val="C9260A"/>
                </a:solidFill>
              </a:rPr>
              <a:t>10</a:t>
            </a:r>
            <a:r>
              <a:rPr lang="zh-CN" altLang="en-US" sz="1400" b="1">
                <a:solidFill>
                  <a:srgbClr val="C9260A"/>
                </a:solidFill>
              </a:rPr>
              <a:t>　</a:t>
            </a:r>
            <a:r>
              <a:rPr lang="zh-CN" altLang="en-US" sz="1400" b="1" dirty="0">
                <a:solidFill>
                  <a:srgbClr val="C9260A"/>
                </a:solidFill>
              </a:rPr>
              <a:t>开源</a:t>
            </a:r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600" b="1" dirty="0">
                <a:solidFill>
                  <a:srgbClr val="111111"/>
                </a:solidFill>
              </a:rPr>
              <a:t>开源项目：GitHub</a:t>
            </a:r>
          </a:p>
        </p:txBody>
      </p:sp>
      <p:cxnSp>
        <p:nvCxnSpPr>
          <p:cNvPr id="7" name="Line 7"/>
          <p:cNvCxnSpPr/>
          <p:nvPr/>
        </p:nvCxnSpPr>
        <p:spPr>
          <a:xfrm>
            <a:off x="609600" y="2159000"/>
            <a:ext cx="4978400" cy="0"/>
          </a:xfrm>
          <a:prstGeom prst="line">
            <a:avLst/>
          </a:prstGeom>
          <a:ln w="38100">
            <a:solidFill>
              <a:srgbClr val="111111"/>
            </a:solidFill>
          </a:ln>
        </p:spPr>
      </p:cxnSp>
      <p:sp>
        <p:nvSpPr>
          <p:cNvPr id="8" name="Text 8"/>
          <p:cNvSpPr txBox="1"/>
          <p:nvPr/>
        </p:nvSpPr>
        <p:spPr>
          <a:xfrm>
            <a:off x="609600" y="2336800"/>
            <a:ext cx="50800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000" b="1" dirty="0">
                <a:solidFill>
                  <a:srgbClr val="C9260A"/>
                </a:solidFill>
              </a:rPr>
              <a:t>GitHub =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000" b="1" dirty="0">
                <a:solidFill>
                  <a:srgbClr val="111111"/>
                </a:solidFill>
              </a:rPr>
              <a:t>全世界开发者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000" b="1" dirty="0">
                <a:solidFill>
                  <a:srgbClr val="111111"/>
                </a:solidFill>
              </a:rPr>
              <a:t>公开、共享代码的地方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09600" y="4064000"/>
            <a:ext cx="49784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dirty="0">
                <a:solidFill>
                  <a:srgbClr val="4F4C47"/>
                </a:solidFill>
              </a:rPr>
              <a:t>免费下载、阅读、学习；很多 AI 工具（包括 Harness）都开源在上面。</a:t>
            </a:r>
          </a:p>
        </p:txBody>
      </p:sp>
      <p:sp>
        <p:nvSpPr>
          <p:cNvPr id="10" name="Terminal"/>
          <p:cNvSpPr txBox="1"/>
          <p:nvPr/>
        </p:nvSpPr>
        <p:spPr>
          <a:xfrm>
            <a:off x="609600" y="5232400"/>
            <a:ext cx="4978400" cy="914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wrap="square" lIns="203200" tIns="0" rIns="20320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dirty="0">
                <a:solidFill>
                  <a:srgbClr val="F2EFE8"/>
                </a:solidFill>
                <a:latin typeface="Consolas"/>
                <a:ea typeface="Microsoft YaHei"/>
              </a:rPr>
              <a:t>$ git clone https://github.com/作者/项目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altLang="en-US" sz="1400" b="0" dirty="0">
                <a:solidFill>
                  <a:srgbClr val="C4BFB3"/>
                </a:solidFill>
              </a:rPr>
              <a:t>一行命令，把整个项目拿到本地</a:t>
            </a:r>
          </a:p>
        </p:txBody>
      </p:sp>
      <p:cxnSp>
        <p:nvCxnSpPr>
          <p:cNvPr id="11" name="Line 11"/>
          <p:cNvCxnSpPr/>
          <p:nvPr/>
        </p:nvCxnSpPr>
        <p:spPr>
          <a:xfrm>
            <a:off x="6604000" y="2159000"/>
            <a:ext cx="4978400" cy="0"/>
          </a:xfrm>
          <a:prstGeom prst="line">
            <a:avLst/>
          </a:prstGeom>
          <a:ln w="38100">
            <a:solidFill>
              <a:srgbClr val="111111"/>
            </a:solidFill>
          </a:ln>
        </p:spPr>
      </p:cxnSp>
      <p:sp>
        <p:nvSpPr>
          <p:cNvPr id="12" name="Text 12"/>
          <p:cNvSpPr txBox="1"/>
          <p:nvPr/>
        </p:nvSpPr>
        <p:spPr>
          <a:xfrm>
            <a:off x="6604000" y="23368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C9260A"/>
                </a:solidFill>
              </a:rPr>
              <a:t>01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7366000" y="2311400"/>
            <a:ext cx="4216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200" b="1" dirty="0">
                <a:solidFill>
                  <a:srgbClr val="111111"/>
                </a:solidFill>
              </a:rPr>
              <a:t>拿来就用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7366000" y="2768600"/>
            <a:ext cx="4216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dirty="0">
                <a:solidFill>
                  <a:srgbClr val="4F4C47"/>
                </a:solidFill>
              </a:rPr>
              <a:t>下载现成的开源项目，直接运行</a:t>
            </a:r>
          </a:p>
        </p:txBody>
      </p:sp>
      <p:cxnSp>
        <p:nvCxnSpPr>
          <p:cNvPr id="15" name="Line 15"/>
          <p:cNvCxnSpPr/>
          <p:nvPr/>
        </p:nvCxnSpPr>
        <p:spPr>
          <a:xfrm>
            <a:off x="6604000" y="3505200"/>
            <a:ext cx="4978400" cy="0"/>
          </a:xfrm>
          <a:prstGeom prst="line">
            <a:avLst/>
          </a:prstGeom>
          <a:ln w="9525">
            <a:solidFill>
              <a:srgbClr val="CFC9BD"/>
            </a:solidFill>
          </a:ln>
        </p:spPr>
      </p:cxnSp>
      <p:sp>
        <p:nvSpPr>
          <p:cNvPr id="16" name="Text 16"/>
          <p:cNvSpPr txBox="1"/>
          <p:nvPr/>
        </p:nvSpPr>
        <p:spPr>
          <a:xfrm>
            <a:off x="6604000" y="36830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C9260A"/>
                </a:solidFill>
              </a:rPr>
              <a:t>02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7366000" y="3657600"/>
            <a:ext cx="4216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200" b="1" dirty="0">
                <a:solidFill>
                  <a:srgbClr val="111111"/>
                </a:solidFill>
              </a:rPr>
              <a:t>读代码学习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7366000" y="4114800"/>
            <a:ext cx="4216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dirty="0">
                <a:solidFill>
                  <a:srgbClr val="4F4C47"/>
                </a:solidFill>
              </a:rPr>
              <a:t>看高手怎么组织程序，比课本快</a:t>
            </a:r>
          </a:p>
        </p:txBody>
      </p:sp>
      <p:cxnSp>
        <p:nvCxnSpPr>
          <p:cNvPr id="19" name="Line 19"/>
          <p:cNvCxnSpPr/>
          <p:nvPr/>
        </p:nvCxnSpPr>
        <p:spPr>
          <a:xfrm>
            <a:off x="6604000" y="4851400"/>
            <a:ext cx="4978400" cy="0"/>
          </a:xfrm>
          <a:prstGeom prst="line">
            <a:avLst/>
          </a:prstGeom>
          <a:ln w="9525">
            <a:solidFill>
              <a:srgbClr val="CFC9BD"/>
            </a:solidFill>
          </a:ln>
        </p:spPr>
      </p:cxnSp>
      <p:sp>
        <p:nvSpPr>
          <p:cNvPr id="20" name="Text 20"/>
          <p:cNvSpPr txBox="1"/>
          <p:nvPr/>
        </p:nvSpPr>
        <p:spPr>
          <a:xfrm>
            <a:off x="6604000" y="50292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C9260A"/>
                </a:solidFill>
              </a:rPr>
              <a:t>03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7366000" y="5003800"/>
            <a:ext cx="4216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200" b="1" dirty="0">
                <a:solidFill>
                  <a:srgbClr val="111111"/>
                </a:solidFill>
              </a:rPr>
              <a:t>工具的源头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7366000" y="5461000"/>
            <a:ext cx="4216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dirty="0">
                <a:solidFill>
                  <a:srgbClr val="4F4C47"/>
                </a:solidFill>
              </a:rPr>
              <a:t>Harness、各种 AI 工具都在上面</a:t>
            </a:r>
          </a:p>
        </p:txBody>
      </p:sp>
      <p:cxnSp>
        <p:nvCxnSpPr>
          <p:cNvPr id="23" name="Line 23"/>
          <p:cNvCxnSpPr/>
          <p:nvPr/>
        </p:nvCxnSpPr>
        <p:spPr>
          <a:xfrm>
            <a:off x="6604000" y="6146800"/>
            <a:ext cx="4978400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</p:spTree>
    <p:extLst>
      <p:ext uri="{BB962C8B-B14F-4D97-AF65-F5344CB8AC3E}">
        <p14:creationId xmlns:p14="http://schemas.microsoft.com/office/powerpoint/2010/main" val="3317410379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1" dirty="0">
                <a:solidFill>
                  <a:srgbClr val="111111"/>
                </a:solidFill>
              </a:rPr>
              <a:t>AI 开发入门</a:t>
            </a:r>
            <a:r>
              <a:rPr lang="zh-CN" altLang="en-US" sz="1100" b="0" dirty="0">
                <a:solidFill>
                  <a:srgbClr val="4F4C47"/>
                </a:solidFill>
              </a:rPr>
              <a:t>　第一课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7772400" y="304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>
                <a:solidFill>
                  <a:srgbClr val="111111"/>
                </a:solidFill>
              </a:rPr>
              <a:t>11</a:t>
            </a:r>
            <a:r>
              <a:rPr lang="zh-CN" altLang="en-US" sz="1100" b="0">
                <a:solidFill>
                  <a:srgbClr val="4F4C47"/>
                </a:solidFill>
              </a:rPr>
              <a:t> / 13</a:t>
            </a:r>
            <a:endParaRPr lang="zh-CN" altLang="en-US" sz="1100" b="0" dirty="0">
              <a:solidFill>
                <a:srgbClr val="4F4C47"/>
              </a:solidFill>
            </a:endParaRPr>
          </a:p>
        </p:txBody>
      </p:sp>
      <p:cxnSp>
        <p:nvCxnSpPr>
          <p:cNvPr id="4" name="Line 4"/>
          <p:cNvCxnSpPr/>
          <p:nvPr/>
        </p:nvCxnSpPr>
        <p:spPr>
          <a:xfrm>
            <a:off x="609600" y="584200"/>
            <a:ext cx="10972800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09600" y="8382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>
                <a:solidFill>
                  <a:srgbClr val="C9260A"/>
                </a:solidFill>
              </a:rPr>
              <a:t>11</a:t>
            </a:r>
            <a:r>
              <a:rPr lang="zh-CN" altLang="en-US" sz="1400" b="1">
                <a:solidFill>
                  <a:srgbClr val="C9260A"/>
                </a:solidFill>
              </a:rPr>
              <a:t>　</a:t>
            </a:r>
            <a:r>
              <a:rPr lang="zh-CN" altLang="en-US" sz="1400" b="1" dirty="0">
                <a:solidFill>
                  <a:srgbClr val="C9260A"/>
                </a:solidFill>
              </a:rPr>
              <a:t>Harness</a:t>
            </a:r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600" b="1" dirty="0">
                <a:solidFill>
                  <a:srgbClr val="111111"/>
                </a:solidFill>
              </a:rPr>
              <a:t>从复制粘贴到 Harness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609600" y="2108200"/>
            <a:ext cx="4826000" cy="787400"/>
          </a:xfrm>
          <a:prstGeom prst="rect">
            <a:avLst/>
          </a:prstGeom>
          <a:noFill/>
          <a:ln w="12700">
            <a:solidFill>
              <a:srgbClr val="CFC9BD"/>
            </a:solidFill>
          </a:ln>
        </p:spPr>
        <p:txBody>
          <a:bodyPr wrap="square" lIns="177800" tIns="0" rIns="17780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1" dirty="0">
                <a:solidFill>
                  <a:srgbClr val="4F4C47"/>
                </a:solidFill>
              </a:rPr>
              <a:t>以前：复制粘贴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altLang="en-US" sz="1600" b="0" dirty="0">
                <a:solidFill>
                  <a:srgbClr val="4F4C47"/>
                </a:solidFill>
              </a:rPr>
              <a:t>你当搬运工，在网页和编辑器之间来回倒</a:t>
            </a:r>
          </a:p>
        </p:txBody>
      </p:sp>
      <p:cxnSp>
        <p:nvCxnSpPr>
          <p:cNvPr id="8" name="Line 8"/>
          <p:cNvCxnSpPr/>
          <p:nvPr/>
        </p:nvCxnSpPr>
        <p:spPr>
          <a:xfrm>
            <a:off x="5537200" y="2501900"/>
            <a:ext cx="1016000" cy="0"/>
          </a:xfrm>
          <a:prstGeom prst="line">
            <a:avLst/>
          </a:prstGeom>
          <a:ln w="19050">
            <a:solidFill>
              <a:srgbClr val="111111"/>
            </a:solidFill>
            <a:tailEnd type="triangle" w="med" len="med"/>
          </a:ln>
        </p:spPr>
      </p:cxnSp>
      <p:sp>
        <p:nvSpPr>
          <p:cNvPr id="9" name="Text 9"/>
          <p:cNvSpPr txBox="1"/>
          <p:nvPr/>
        </p:nvSpPr>
        <p:spPr>
          <a:xfrm>
            <a:off x="6654800" y="2108200"/>
            <a:ext cx="4927600" cy="787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wrap="square" lIns="177800" tIns="0" rIns="17780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dirty="0">
                <a:solidFill>
                  <a:srgbClr val="F25A3C"/>
                </a:solidFill>
              </a:rPr>
              <a:t>现在：用 Harness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altLang="en-US" sz="1600" b="1" dirty="0">
                <a:solidFill>
                  <a:srgbClr val="F2EFE8"/>
                </a:solidFill>
              </a:rPr>
              <a:t>AI 直接读写项目、运行、看报错自己改</a:t>
            </a:r>
          </a:p>
        </p:txBody>
      </p:sp>
      <p:cxnSp>
        <p:nvCxnSpPr>
          <p:cNvPr id="10" name="Line 10"/>
          <p:cNvCxnSpPr/>
          <p:nvPr/>
        </p:nvCxnSpPr>
        <p:spPr>
          <a:xfrm>
            <a:off x="609600" y="3251200"/>
            <a:ext cx="5232400" cy="0"/>
          </a:xfrm>
          <a:prstGeom prst="line">
            <a:avLst/>
          </a:prstGeom>
          <a:ln w="38100">
            <a:solidFill>
              <a:srgbClr val="111111"/>
            </a:solidFill>
          </a:ln>
        </p:spPr>
      </p:cxnSp>
      <p:sp>
        <p:nvSpPr>
          <p:cNvPr id="11" name="Text 11"/>
          <p:cNvSpPr txBox="1"/>
          <p:nvPr/>
        </p:nvSpPr>
        <p:spPr>
          <a:xfrm>
            <a:off x="609600" y="33782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600" b="1" dirty="0">
                <a:solidFill>
                  <a:srgbClr val="111111"/>
                </a:solidFill>
              </a:rPr>
              <a:t>Claude Code</a:t>
            </a:r>
          </a:p>
        </p:txBody>
      </p:sp>
      <p:sp>
        <p:nvSpPr>
          <p:cNvPr id="12" name="Tag"/>
          <p:cNvSpPr txBox="1"/>
          <p:nvPr/>
        </p:nvSpPr>
        <p:spPr>
          <a:xfrm>
            <a:off x="4927600" y="3479800"/>
            <a:ext cx="914400" cy="330200"/>
          </a:xfrm>
          <a:prstGeom prst="rect">
            <a:avLst/>
          </a:prstGeom>
          <a:noFill/>
          <a:ln w="12700">
            <a:solidFill>
              <a:srgbClr val="11111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1" dirty="0">
                <a:solidFill>
                  <a:srgbClr val="111111"/>
                </a:solidFill>
              </a:rPr>
              <a:t>需代理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609600" y="3937000"/>
            <a:ext cx="5232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1" dirty="0">
                <a:solidFill>
                  <a:srgbClr val="4F4C47"/>
                </a:solidFill>
              </a:rPr>
              <a:t>Anthropic 官方 · 适配 Claude 最好</a:t>
            </a:r>
          </a:p>
        </p:txBody>
      </p:sp>
      <p:cxnSp>
        <p:nvCxnSpPr>
          <p:cNvPr id="14" name="Line 14"/>
          <p:cNvCxnSpPr/>
          <p:nvPr/>
        </p:nvCxnSpPr>
        <p:spPr>
          <a:xfrm>
            <a:off x="609600" y="4368800"/>
            <a:ext cx="5232400" cy="0"/>
          </a:xfrm>
          <a:prstGeom prst="line">
            <a:avLst/>
          </a:prstGeom>
          <a:ln w="9525">
            <a:solidFill>
              <a:srgbClr val="CFC9BD"/>
            </a:solidFill>
          </a:ln>
        </p:spPr>
      </p:cxnSp>
      <p:sp>
        <p:nvSpPr>
          <p:cNvPr id="15" name="Text 15"/>
          <p:cNvSpPr txBox="1"/>
          <p:nvPr/>
        </p:nvSpPr>
        <p:spPr>
          <a:xfrm>
            <a:off x="609600" y="4470400"/>
            <a:ext cx="5232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dirty="0">
                <a:solidFill>
                  <a:srgbClr val="111111"/>
                </a:solidFill>
              </a:rPr>
              <a:t>模型前沿，做 PPT、动画、3D、复杂程序</a:t>
            </a:r>
          </a:p>
        </p:txBody>
      </p:sp>
      <p:cxnSp>
        <p:nvCxnSpPr>
          <p:cNvPr id="16" name="Line 16"/>
          <p:cNvCxnSpPr/>
          <p:nvPr/>
        </p:nvCxnSpPr>
        <p:spPr>
          <a:xfrm>
            <a:off x="609600" y="4851400"/>
            <a:ext cx="5232400" cy="0"/>
          </a:xfrm>
          <a:prstGeom prst="line">
            <a:avLst/>
          </a:prstGeom>
          <a:ln w="9525">
            <a:solidFill>
              <a:srgbClr val="CFC9BD"/>
            </a:solidFill>
          </a:ln>
        </p:spPr>
      </p:cxnSp>
      <p:sp>
        <p:nvSpPr>
          <p:cNvPr id="17" name="Text 17"/>
          <p:cNvSpPr txBox="1"/>
          <p:nvPr/>
        </p:nvSpPr>
        <p:spPr>
          <a:xfrm>
            <a:off x="609600" y="4953000"/>
            <a:ext cx="5232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dirty="0">
                <a:solidFill>
                  <a:srgbClr val="111111"/>
                </a:solidFill>
              </a:rPr>
              <a:t>能力最强，但很贵还要代理，综合成本高</a:t>
            </a:r>
          </a:p>
        </p:txBody>
      </p:sp>
      <p:cxnSp>
        <p:nvCxnSpPr>
          <p:cNvPr id="18" name="Line 18"/>
          <p:cNvCxnSpPr/>
          <p:nvPr/>
        </p:nvCxnSpPr>
        <p:spPr>
          <a:xfrm>
            <a:off x="609600" y="5816600"/>
            <a:ext cx="5232400" cy="0"/>
          </a:xfrm>
          <a:prstGeom prst="line">
            <a:avLst/>
          </a:prstGeom>
          <a:ln w="9525">
            <a:solidFill>
              <a:srgbClr val="CFC9BD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6350000" y="3251200"/>
            <a:ext cx="5232400" cy="0"/>
          </a:xfrm>
          <a:prstGeom prst="line">
            <a:avLst/>
          </a:prstGeom>
          <a:ln w="38100">
            <a:solidFill>
              <a:srgbClr val="C9260A"/>
            </a:solidFill>
          </a:ln>
        </p:spPr>
      </p:cxnSp>
      <p:sp>
        <p:nvSpPr>
          <p:cNvPr id="20" name="Text 20"/>
          <p:cNvSpPr txBox="1"/>
          <p:nvPr/>
        </p:nvSpPr>
        <p:spPr>
          <a:xfrm>
            <a:off x="6350000" y="33782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600" b="1" dirty="0">
                <a:solidFill>
                  <a:srgbClr val="111111"/>
                </a:solidFill>
              </a:rPr>
              <a:t>DeepSeek Harness</a:t>
            </a:r>
          </a:p>
        </p:txBody>
      </p:sp>
      <p:sp>
        <p:nvSpPr>
          <p:cNvPr id="21" name="Tag"/>
          <p:cNvSpPr txBox="1"/>
          <p:nvPr/>
        </p:nvSpPr>
        <p:spPr>
          <a:xfrm>
            <a:off x="10083800" y="3479800"/>
            <a:ext cx="1498600" cy="330200"/>
          </a:xfrm>
          <a:prstGeom prst="rect">
            <a:avLst/>
          </a:prstGeom>
          <a:solidFill>
            <a:srgbClr val="C9260A"/>
          </a:solidFill>
          <a:ln w="12700">
            <a:solidFill>
              <a:srgbClr val="C9260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1" dirty="0">
                <a:solidFill>
                  <a:srgbClr val="F2EFE8"/>
                </a:solidFill>
              </a:rPr>
              <a:t>推荐 · 免代理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6350000" y="3937000"/>
            <a:ext cx="5232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 dirty="0">
                <a:solidFill>
                  <a:srgbClr val="C9260A"/>
                </a:solidFill>
              </a:rPr>
              <a:t>DeepSeek 官方 · 适配自家模型</a:t>
            </a:r>
          </a:p>
        </p:txBody>
      </p:sp>
      <p:cxnSp>
        <p:nvCxnSpPr>
          <p:cNvPr id="23" name="Line 23"/>
          <p:cNvCxnSpPr/>
          <p:nvPr/>
        </p:nvCxnSpPr>
        <p:spPr>
          <a:xfrm>
            <a:off x="6350000" y="4368800"/>
            <a:ext cx="5232400" cy="0"/>
          </a:xfrm>
          <a:prstGeom prst="line">
            <a:avLst/>
          </a:prstGeom>
          <a:ln w="9525">
            <a:solidFill>
              <a:srgbClr val="CFC9BD"/>
            </a:solidFill>
          </a:ln>
        </p:spPr>
      </p:cxnSp>
      <p:sp>
        <p:nvSpPr>
          <p:cNvPr id="24" name="Text 24"/>
          <p:cNvSpPr txBox="1"/>
          <p:nvPr/>
        </p:nvSpPr>
        <p:spPr>
          <a:xfrm>
            <a:off x="6350000" y="4470400"/>
            <a:ext cx="5232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dirty="0">
                <a:solidFill>
                  <a:srgbClr val="111111"/>
                </a:solidFill>
              </a:rPr>
              <a:t>性价比之王，同价位体验最好</a:t>
            </a:r>
          </a:p>
        </p:txBody>
      </p:sp>
      <p:cxnSp>
        <p:nvCxnSpPr>
          <p:cNvPr id="25" name="Line 25"/>
          <p:cNvCxnSpPr/>
          <p:nvPr/>
        </p:nvCxnSpPr>
        <p:spPr>
          <a:xfrm>
            <a:off x="6350000" y="4851400"/>
            <a:ext cx="5232400" cy="0"/>
          </a:xfrm>
          <a:prstGeom prst="line">
            <a:avLst/>
          </a:prstGeom>
          <a:ln w="9525">
            <a:solidFill>
              <a:srgbClr val="CFC9BD"/>
            </a:solidFill>
          </a:ln>
        </p:spPr>
      </p:cxnSp>
      <p:sp>
        <p:nvSpPr>
          <p:cNvPr id="26" name="Text 26"/>
          <p:cNvSpPr txBox="1"/>
          <p:nvPr/>
        </p:nvSpPr>
        <p:spPr>
          <a:xfrm>
            <a:off x="6350000" y="4953000"/>
            <a:ext cx="5232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dirty="0">
                <a:solidFill>
                  <a:srgbClr val="111111"/>
                </a:solidFill>
              </a:rPr>
              <a:t>日常学习、开发完全够用</a:t>
            </a:r>
          </a:p>
        </p:txBody>
      </p:sp>
      <p:cxnSp>
        <p:nvCxnSpPr>
          <p:cNvPr id="27" name="Line 27"/>
          <p:cNvCxnSpPr/>
          <p:nvPr/>
        </p:nvCxnSpPr>
        <p:spPr>
          <a:xfrm>
            <a:off x="6350000" y="5334000"/>
            <a:ext cx="5232400" cy="0"/>
          </a:xfrm>
          <a:prstGeom prst="line">
            <a:avLst/>
          </a:prstGeom>
          <a:ln w="9525">
            <a:solidFill>
              <a:srgbClr val="CFC9BD"/>
            </a:solidFill>
          </a:ln>
        </p:spPr>
      </p:cxnSp>
      <p:sp>
        <p:nvSpPr>
          <p:cNvPr id="28" name="Text 28"/>
          <p:cNvSpPr txBox="1"/>
          <p:nvPr/>
        </p:nvSpPr>
        <p:spPr>
          <a:xfrm>
            <a:off x="6350000" y="5435600"/>
            <a:ext cx="5232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0" dirty="0">
                <a:solidFill>
                  <a:srgbClr val="111111"/>
                </a:solidFill>
              </a:rPr>
              <a:t>基于插件扩展，我自己也编过</a:t>
            </a:r>
          </a:p>
        </p:txBody>
      </p:sp>
      <p:cxnSp>
        <p:nvCxnSpPr>
          <p:cNvPr id="29" name="Line 29"/>
          <p:cNvCxnSpPr/>
          <p:nvPr/>
        </p:nvCxnSpPr>
        <p:spPr>
          <a:xfrm>
            <a:off x="6350000" y="5816600"/>
            <a:ext cx="5232400" cy="0"/>
          </a:xfrm>
          <a:prstGeom prst="line">
            <a:avLst/>
          </a:prstGeom>
          <a:ln w="9525">
            <a:solidFill>
              <a:srgbClr val="CFC9BD"/>
            </a:solidFill>
          </a:ln>
        </p:spPr>
      </p:cxnSp>
      <p:cxnSp>
        <p:nvCxnSpPr>
          <p:cNvPr id="40" name="Line 40"/>
          <p:cNvCxnSpPr/>
          <p:nvPr/>
        </p:nvCxnSpPr>
        <p:spPr>
          <a:xfrm>
            <a:off x="609600" y="5334000"/>
            <a:ext cx="5232400" cy="0"/>
          </a:xfrm>
          <a:prstGeom prst="line">
            <a:avLst/>
          </a:prstGeom>
          <a:ln w="9525">
            <a:solidFill>
              <a:srgbClr val="CFC9BD"/>
            </a:solidFill>
          </a:ln>
        </p:spPr>
      </p:cxnSp>
      <p:sp>
        <p:nvSpPr>
          <p:cNvPr id="41" name="Reveal"/>
          <p:cNvSpPr txBox="1"/>
          <p:nvPr/>
        </p:nvSpPr>
        <p:spPr>
          <a:xfrm>
            <a:off x="609600" y="54356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buNone/>
            </a:pPr>
            <a:r>
              <a:rPr lang="zh-CN" sz="1600" b="1" dirty="0">
                <a:solidFill>
                  <a:srgbClr val="C9260A"/>
                </a:solidFill>
              </a:rPr>
              <a:t>你现在看的这份 PPT，就是我让 Claude 做的</a:t>
            </a:r>
          </a:p>
        </p:txBody>
      </p:sp>
    </p:spTree>
    <p:extLst>
      <p:ext uri="{BB962C8B-B14F-4D97-AF65-F5344CB8AC3E}">
        <p14:creationId xmlns:p14="http://schemas.microsoft.com/office/powerpoint/2010/main" val="225287554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/>
      <p:bldP spid="12" grpId="0" animBg="1"/>
      <p:bldP spid="13" grpId="0"/>
      <p:bldP spid="14" grpId="0" animBg="1"/>
      <p:bldP spid="15" grpId="0"/>
      <p:bldP spid="16" grpId="0" animBg="1"/>
      <p:bldP spid="17" grpId="0"/>
      <p:bldP spid="18" grpId="0" animBg="1"/>
      <p:bldP spid="19" grpId="0" animBg="1"/>
      <p:bldP spid="20" grpId="0"/>
      <p:bldP spid="21" grpId="0" animBg="1"/>
      <p:bldP spid="22" grpId="0"/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animBg="1"/>
      <p:bldP spid="40" grpId="0" animBg="1"/>
      <p:bldP spid="4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00" b="1" dirty="0">
                <a:solidFill>
                  <a:srgbClr val="111111"/>
                </a:solidFill>
              </a:rPr>
              <a:t>AI 开发入门</a:t>
            </a:r>
            <a:r>
              <a:rPr lang="zh-CN" altLang="en-US" sz="1100" b="0" dirty="0">
                <a:solidFill>
                  <a:srgbClr val="4F4C47"/>
                </a:solidFill>
              </a:rPr>
              <a:t>　第一课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7772400" y="304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100" b="1" dirty="0">
                <a:solidFill>
                  <a:srgbClr val="111111"/>
                </a:solidFill>
              </a:rPr>
              <a:t>12</a:t>
            </a:r>
            <a:r>
              <a:rPr lang="zh-CN" altLang="en-US" sz="1100" b="0" dirty="0">
                <a:solidFill>
                  <a:srgbClr val="4F4C47"/>
                </a:solidFill>
              </a:rPr>
              <a:t> / 13</a:t>
            </a:r>
          </a:p>
        </p:txBody>
      </p:sp>
      <p:cxnSp>
        <p:nvCxnSpPr>
          <p:cNvPr id="4" name="Line 4"/>
          <p:cNvCxnSpPr/>
          <p:nvPr/>
        </p:nvCxnSpPr>
        <p:spPr>
          <a:xfrm>
            <a:off x="609600" y="584200"/>
            <a:ext cx="10972800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09600" y="8382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400" b="1" dirty="0">
                <a:solidFill>
                  <a:srgbClr val="C9260A"/>
                </a:solidFill>
              </a:rPr>
              <a:t>12　真实现场</a:t>
            </a:r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3200" b="1" dirty="0">
                <a:solidFill>
                  <a:srgbClr val="111111"/>
                </a:solidFill>
              </a:rPr>
              <a:t>这是我真实的开发环境：几个 AI 同时在干活</a:t>
            </a:r>
          </a:p>
        </p:txBody>
      </p:sp>
      <p:cxnSp>
        <p:nvCxnSpPr>
          <p:cNvPr id="7" name="Line 7"/>
          <p:cNvCxnSpPr/>
          <p:nvPr/>
        </p:nvCxnSpPr>
        <p:spPr>
          <a:xfrm>
            <a:off x="7823200" y="2184400"/>
            <a:ext cx="3759200" cy="0"/>
          </a:xfrm>
          <a:prstGeom prst="line">
            <a:avLst/>
          </a:prstGeom>
          <a:ln w="38100">
            <a:solidFill>
              <a:srgbClr val="111111"/>
            </a:solidFill>
          </a:ln>
        </p:spPr>
      </p:cxnSp>
      <p:sp>
        <p:nvSpPr>
          <p:cNvPr id="8" name="Text 8"/>
          <p:cNvSpPr txBox="1"/>
          <p:nvPr/>
        </p:nvSpPr>
        <p:spPr>
          <a:xfrm>
            <a:off x="7823200" y="2362200"/>
            <a:ext cx="330200" cy="330200"/>
          </a:xfrm>
          <a:prstGeom prst="ellipse">
            <a:avLst/>
          </a:prstGeom>
          <a:solidFill>
            <a:srgbClr val="C9260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400" b="1" dirty="0">
                <a:solidFill>
                  <a:srgbClr val="F2EFE8"/>
                </a:solidFill>
              </a:rPr>
              <a:t>1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8305800" y="2336800"/>
            <a:ext cx="32766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000" b="1" dirty="0">
                <a:solidFill>
                  <a:srgbClr val="111111"/>
                </a:solidFill>
              </a:rPr>
              <a:t>DeepSeek Harness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8305800" y="2743200"/>
            <a:ext cx="3276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600" b="0" dirty="0">
                <a:solidFill>
                  <a:srgbClr val="4F4C47"/>
                </a:solidFill>
              </a:rPr>
              <a:t>正在构建 WordSnap 插件版：自己读写文件、执行命令，已跑 97 步</a:t>
            </a:r>
          </a:p>
        </p:txBody>
      </p:sp>
      <p:cxnSp>
        <p:nvCxnSpPr>
          <p:cNvPr id="11" name="Line 11"/>
          <p:cNvCxnSpPr/>
          <p:nvPr/>
        </p:nvCxnSpPr>
        <p:spPr>
          <a:xfrm>
            <a:off x="7823200" y="3759200"/>
            <a:ext cx="3759200" cy="0"/>
          </a:xfrm>
          <a:prstGeom prst="line">
            <a:avLst/>
          </a:prstGeom>
          <a:ln w="9525">
            <a:solidFill>
              <a:srgbClr val="CFC9BD"/>
            </a:solidFill>
          </a:ln>
        </p:spPr>
      </p:cxnSp>
      <p:sp>
        <p:nvSpPr>
          <p:cNvPr id="12" name="Text 12"/>
          <p:cNvSpPr txBox="1"/>
          <p:nvPr/>
        </p:nvSpPr>
        <p:spPr>
          <a:xfrm>
            <a:off x="7823200" y="3835400"/>
            <a:ext cx="330200" cy="330200"/>
          </a:xfrm>
          <a:prstGeom prst="ellipse">
            <a:avLst/>
          </a:prstGeom>
          <a:solidFill>
            <a:srgbClr val="C9260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400" b="1" dirty="0">
                <a:solidFill>
                  <a:srgbClr val="F2EFE8"/>
                </a:solidFill>
              </a:rPr>
              <a:t>2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8305800" y="3810000"/>
            <a:ext cx="32766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000" b="1" dirty="0">
                <a:solidFill>
                  <a:srgbClr val="111111"/>
                </a:solidFill>
              </a:rPr>
              <a:t>Claude Code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8305800" y="4216400"/>
            <a:ext cx="3276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600" b="0" dirty="0">
                <a:solidFill>
                  <a:srgbClr val="4F4C47"/>
                </a:solidFill>
              </a:rPr>
              <a:t>额度用完要等重置：这就是“贵”</a:t>
            </a:r>
          </a:p>
        </p:txBody>
      </p:sp>
      <p:cxnSp>
        <p:nvCxnSpPr>
          <p:cNvPr id="15" name="Line 15"/>
          <p:cNvCxnSpPr/>
          <p:nvPr/>
        </p:nvCxnSpPr>
        <p:spPr>
          <a:xfrm>
            <a:off x="7823200" y="5232400"/>
            <a:ext cx="3759200" cy="0"/>
          </a:xfrm>
          <a:prstGeom prst="line">
            <a:avLst/>
          </a:prstGeom>
          <a:ln w="9525">
            <a:solidFill>
              <a:srgbClr val="CFC9BD"/>
            </a:solidFill>
          </a:ln>
        </p:spPr>
      </p:cxnSp>
      <p:sp>
        <p:nvSpPr>
          <p:cNvPr id="16" name="Text 16"/>
          <p:cNvSpPr txBox="1"/>
          <p:nvPr/>
        </p:nvSpPr>
        <p:spPr>
          <a:xfrm>
            <a:off x="7823200" y="5308600"/>
            <a:ext cx="330200" cy="330200"/>
          </a:xfrm>
          <a:prstGeom prst="ellipse">
            <a:avLst/>
          </a:prstGeom>
          <a:solidFill>
            <a:srgbClr val="C9260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400" b="1" dirty="0">
                <a:solidFill>
                  <a:srgbClr val="F2EFE8"/>
                </a:solidFill>
              </a:rPr>
              <a:t>3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8305800" y="5283200"/>
            <a:ext cx="32766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000" b="1" dirty="0">
                <a:solidFill>
                  <a:srgbClr val="111111"/>
                </a:solidFill>
              </a:rPr>
              <a:t>豆包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8305800" y="5689600"/>
            <a:ext cx="3276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600" b="0" dirty="0">
                <a:solidFill>
                  <a:srgbClr val="4F4C47"/>
                </a:solidFill>
              </a:rPr>
              <a:t>在浏览器里替我点授权、登录设备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F20A2A17-9B21-6F86-8889-DB6B7F958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032000"/>
            <a:ext cx="6604000" cy="4292600"/>
          </a:xfrm>
          <a:prstGeom prst="rect">
            <a:avLst/>
          </a:prstGeom>
          <a:ln w="9525">
            <a:solidFill>
              <a:srgbClr val="111111"/>
            </a:solidFill>
          </a:ln>
        </p:spPr>
      </p:pic>
      <p:sp>
        <p:nvSpPr>
          <p:cNvPr id="19" name="Marker 1"/>
          <p:cNvSpPr txBox="1"/>
          <p:nvPr/>
        </p:nvSpPr>
        <p:spPr>
          <a:xfrm>
            <a:off x="5347170" y="4519318"/>
            <a:ext cx="406400" cy="406400"/>
          </a:xfrm>
          <a:prstGeom prst="ellipse">
            <a:avLst/>
          </a:prstGeom>
          <a:solidFill>
            <a:srgbClr val="C9260A"/>
          </a:solidFill>
          <a:ln w="25400">
            <a:solidFill>
              <a:srgbClr val="F2EFE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400" b="1" dirty="0">
                <a:solidFill>
                  <a:srgbClr val="F2EFE8"/>
                </a:solidFill>
              </a:rPr>
              <a:t>1</a:t>
            </a:r>
          </a:p>
        </p:txBody>
      </p:sp>
      <p:sp>
        <p:nvSpPr>
          <p:cNvPr id="20" name="Marker 2"/>
          <p:cNvSpPr txBox="1"/>
          <p:nvPr/>
        </p:nvSpPr>
        <p:spPr>
          <a:xfrm>
            <a:off x="2475088" y="5152437"/>
            <a:ext cx="406400" cy="406400"/>
          </a:xfrm>
          <a:prstGeom prst="ellipse">
            <a:avLst/>
          </a:prstGeom>
          <a:solidFill>
            <a:srgbClr val="C9260A"/>
          </a:solidFill>
          <a:ln w="25400">
            <a:solidFill>
              <a:srgbClr val="F2EFE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400" b="1" dirty="0">
                <a:solidFill>
                  <a:srgbClr val="F2EFE8"/>
                </a:solidFill>
              </a:rPr>
              <a:t>2</a:t>
            </a:r>
          </a:p>
        </p:txBody>
      </p:sp>
      <p:sp>
        <p:nvSpPr>
          <p:cNvPr id="21" name="Marker 3"/>
          <p:cNvSpPr txBox="1"/>
          <p:nvPr/>
        </p:nvSpPr>
        <p:spPr>
          <a:xfrm>
            <a:off x="5249333" y="2611496"/>
            <a:ext cx="406400" cy="406400"/>
          </a:xfrm>
          <a:prstGeom prst="ellipse">
            <a:avLst/>
          </a:prstGeom>
          <a:solidFill>
            <a:srgbClr val="C9260A"/>
          </a:solidFill>
          <a:ln w="25400">
            <a:solidFill>
              <a:srgbClr val="F2EFE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400" b="1" dirty="0">
                <a:solidFill>
                  <a:srgbClr val="F2EFE8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40117504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1" dirty="0">
                <a:solidFill>
                  <a:srgbClr val="F2EFE8"/>
                </a:solidFill>
              </a:rPr>
              <a:t>AI 开发入门</a:t>
            </a:r>
            <a:r>
              <a:rPr lang="zh-CN" altLang="en-US" sz="1100" b="0" dirty="0">
                <a:solidFill>
                  <a:srgbClr val="C4BFB3"/>
                </a:solidFill>
              </a:rPr>
              <a:t>　第一课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7772400" y="304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>
                <a:solidFill>
                  <a:srgbClr val="F2EFE8"/>
                </a:solidFill>
              </a:rPr>
              <a:t>13</a:t>
            </a:r>
            <a:r>
              <a:rPr lang="zh-CN" altLang="en-US" sz="1100" b="0">
                <a:solidFill>
                  <a:srgbClr val="C4BFB3"/>
                </a:solidFill>
              </a:rPr>
              <a:t> / 13</a:t>
            </a:r>
            <a:endParaRPr lang="zh-CN" altLang="en-US" sz="1100" b="0" dirty="0">
              <a:solidFill>
                <a:srgbClr val="C4BFB3"/>
              </a:solidFill>
            </a:endParaRPr>
          </a:p>
        </p:txBody>
      </p:sp>
      <p:cxnSp>
        <p:nvCxnSpPr>
          <p:cNvPr id="4" name="Line 4"/>
          <p:cNvCxnSpPr/>
          <p:nvPr/>
        </p:nvCxnSpPr>
        <p:spPr>
          <a:xfrm>
            <a:off x="609600" y="584200"/>
            <a:ext cx="10972800" cy="0"/>
          </a:xfrm>
          <a:prstGeom prst="line">
            <a:avLst/>
          </a:prstGeom>
          <a:ln w="9525">
            <a:solidFill>
              <a:srgbClr val="F2EFE8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09600" y="8382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>
                <a:solidFill>
                  <a:srgbClr val="F25A3C"/>
                </a:solidFill>
              </a:rPr>
              <a:t>13</a:t>
            </a:r>
            <a:r>
              <a:rPr lang="zh-CN" altLang="en-US" sz="1400" b="1">
                <a:solidFill>
                  <a:srgbClr val="F25A3C"/>
                </a:solidFill>
              </a:rPr>
              <a:t>　</a:t>
            </a:r>
            <a:r>
              <a:rPr lang="zh-CN" altLang="en-US" sz="1400" b="1" dirty="0">
                <a:solidFill>
                  <a:srgbClr val="F25A3C"/>
                </a:solidFill>
              </a:rPr>
              <a:t>收尾 · 把两条线合起来</a:t>
            </a:r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>
          <a:xfrm>
            <a:off x="609600" y="1320800"/>
            <a:ext cx="6096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5200" b="1" dirty="0">
                <a:solidFill>
                  <a:srgbClr val="F2EFE8"/>
                </a:solidFill>
              </a:rPr>
              <a:t>两条线，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5200" b="1" dirty="0">
                <a:solidFill>
                  <a:srgbClr val="F25A3C"/>
                </a:solidFill>
              </a:rPr>
              <a:t>合成一条路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609600" y="3327400"/>
            <a:ext cx="58928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0" dirty="0">
                <a:solidFill>
                  <a:srgbClr val="F2EFE8"/>
                </a:solidFill>
              </a:rPr>
              <a:t>用 AI 学习，弄懂原理；用 AI 开发，把想法做出来。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1" dirty="0">
                <a:solidFill>
                  <a:srgbClr val="F2EFE8"/>
                </a:solidFill>
              </a:rPr>
              <a:t>会开发，AI 才真正替你做事。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0" dirty="0">
                <a:solidFill>
                  <a:srgbClr val="F2EFE8"/>
                </a:solidFill>
              </a:rPr>
              <a:t>这才是比复制粘贴更值得练的本事。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09600" y="5054600"/>
            <a:ext cx="1143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dirty="0">
                <a:solidFill>
                  <a:srgbClr val="C4BFB3"/>
                </a:solidFill>
              </a:rPr>
              <a:t>用 AI 学习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09600" y="5740400"/>
            <a:ext cx="1143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dirty="0">
                <a:solidFill>
                  <a:srgbClr val="C4BFB3"/>
                </a:solidFill>
              </a:rPr>
              <a:t>用 AI 开发</a:t>
            </a:r>
          </a:p>
        </p:txBody>
      </p:sp>
      <p:cxnSp>
        <p:nvCxnSpPr>
          <p:cNvPr id="10" name="Line 10"/>
          <p:cNvCxnSpPr/>
          <p:nvPr/>
        </p:nvCxnSpPr>
        <p:spPr>
          <a:xfrm>
            <a:off x="1778000" y="5181600"/>
            <a:ext cx="1270000" cy="330200"/>
          </a:xfrm>
          <a:prstGeom prst="line">
            <a:avLst/>
          </a:prstGeom>
          <a:ln w="19050">
            <a:solidFill>
              <a:srgbClr val="F2EFE8"/>
            </a:solidFill>
          </a:ln>
        </p:spPr>
      </p:cxnSp>
      <p:cxnSp>
        <p:nvCxnSpPr>
          <p:cNvPr id="11" name="Line 11"/>
          <p:cNvCxnSpPr/>
          <p:nvPr/>
        </p:nvCxnSpPr>
        <p:spPr>
          <a:xfrm flipV="1">
            <a:off x="1778000" y="5511800"/>
            <a:ext cx="1270000" cy="355600"/>
          </a:xfrm>
          <a:prstGeom prst="line">
            <a:avLst/>
          </a:prstGeom>
          <a:ln w="19050">
            <a:solidFill>
              <a:srgbClr val="F2EFE8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3048000" y="5511800"/>
            <a:ext cx="1778000" cy="0"/>
          </a:xfrm>
          <a:prstGeom prst="line">
            <a:avLst/>
          </a:prstGeom>
          <a:ln w="38100">
            <a:solidFill>
              <a:srgbClr val="C9260A"/>
            </a:solidFill>
            <a:tailEnd type="triangle" w="med" len="med"/>
          </a:ln>
        </p:spPr>
      </p:cxnSp>
      <p:sp>
        <p:nvSpPr>
          <p:cNvPr id="13" name="Text 13"/>
          <p:cNvSpPr txBox="1"/>
          <p:nvPr/>
        </p:nvSpPr>
        <p:spPr>
          <a:xfrm>
            <a:off x="4978400" y="53594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1" dirty="0">
                <a:solidFill>
                  <a:srgbClr val="F25A3C"/>
                </a:solidFill>
              </a:rPr>
              <a:t>一条路</a:t>
            </a:r>
          </a:p>
        </p:txBody>
      </p:sp>
      <p:sp>
        <p:nvSpPr>
          <p:cNvPr id="14" name="Next Step Panel"/>
          <p:cNvSpPr txBox="1"/>
          <p:nvPr/>
        </p:nvSpPr>
        <p:spPr>
          <a:xfrm>
            <a:off x="7315200" y="1320800"/>
            <a:ext cx="4267200" cy="4927600"/>
          </a:xfrm>
          <a:prstGeom prst="rect">
            <a:avLst/>
          </a:prstGeom>
          <a:solidFill>
            <a:srgbClr val="C9260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zh-CN" sz="1000" dirty="0"/>
          </a:p>
        </p:txBody>
      </p:sp>
      <p:sp>
        <p:nvSpPr>
          <p:cNvPr id="15" name="Text 15"/>
          <p:cNvSpPr txBox="1"/>
          <p:nvPr/>
        </p:nvSpPr>
        <p:spPr>
          <a:xfrm>
            <a:off x="7620000" y="1625600"/>
            <a:ext cx="3657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dirty="0">
                <a:solidFill>
                  <a:srgbClr val="F2EFE8"/>
                </a:solidFill>
              </a:rPr>
              <a:t>课后一步</a:t>
            </a:r>
          </a:p>
        </p:txBody>
      </p:sp>
      <p:cxnSp>
        <p:nvCxnSpPr>
          <p:cNvPr id="16" name="Line 16"/>
          <p:cNvCxnSpPr/>
          <p:nvPr/>
        </p:nvCxnSpPr>
        <p:spPr>
          <a:xfrm>
            <a:off x="7620000" y="2006600"/>
            <a:ext cx="3657600" cy="0"/>
          </a:xfrm>
          <a:prstGeom prst="line">
            <a:avLst/>
          </a:prstGeom>
          <a:ln w="9525">
            <a:solidFill>
              <a:srgbClr val="F2EFE8"/>
            </a:solidFill>
          </a:ln>
        </p:spPr>
      </p:cxnSp>
      <p:sp>
        <p:nvSpPr>
          <p:cNvPr id="17" name="Text 17"/>
          <p:cNvSpPr txBox="1"/>
          <p:nvPr/>
        </p:nvSpPr>
        <p:spPr>
          <a:xfrm>
            <a:off x="7620000" y="2235200"/>
            <a:ext cx="36576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600" b="1" dirty="0">
                <a:solidFill>
                  <a:srgbClr val="F2EFE8"/>
                </a:solidFill>
              </a:rPr>
              <a:t>挑一个你想做的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600" b="1" dirty="0">
                <a:solidFill>
                  <a:srgbClr val="F2EFE8"/>
                </a:solidFill>
              </a:rPr>
              <a:t>小东西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7620000" y="3403600"/>
            <a:ext cx="36576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dirty="0">
                <a:solidFill>
                  <a:srgbClr val="F2EFE8"/>
                </a:solidFill>
              </a:rPr>
              <a:t>一个网页、一个单词小工具，用 DeepSeek Harness 试着从零做出来。</a:t>
            </a:r>
          </a:p>
        </p:txBody>
      </p:sp>
      <p:cxnSp>
        <p:nvCxnSpPr>
          <p:cNvPr id="19" name="Line 19"/>
          <p:cNvCxnSpPr/>
          <p:nvPr/>
        </p:nvCxnSpPr>
        <p:spPr>
          <a:xfrm>
            <a:off x="7620000" y="5461000"/>
            <a:ext cx="3657600" cy="0"/>
          </a:xfrm>
          <a:prstGeom prst="line">
            <a:avLst/>
          </a:prstGeom>
          <a:ln w="9525">
            <a:solidFill>
              <a:srgbClr val="F2EFE8"/>
            </a:solidFill>
          </a:ln>
        </p:spPr>
      </p:cxnSp>
      <p:sp>
        <p:nvSpPr>
          <p:cNvPr id="20" name="Text 20"/>
          <p:cNvSpPr txBox="1"/>
          <p:nvPr/>
        </p:nvSpPr>
        <p:spPr>
          <a:xfrm>
            <a:off x="7620000" y="5613400"/>
            <a:ext cx="3657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dirty="0">
                <a:solidFill>
                  <a:srgbClr val="F2EFE8"/>
                </a:solidFill>
              </a:rPr>
              <a:t>下一课　</a:t>
            </a:r>
            <a:r>
              <a:rPr lang="zh-CN" altLang="en-US" sz="1600" b="1" dirty="0">
                <a:solidFill>
                  <a:srgbClr val="F2EFE8"/>
                </a:solidFill>
              </a:rPr>
              <a:t>动手做第一个项目 →</a:t>
            </a:r>
          </a:p>
        </p:txBody>
      </p:sp>
      <p:sp>
        <p:nvSpPr>
          <p:cNvPr id="60" name="URL 60"/>
          <p:cNvSpPr txBox="1"/>
          <p:nvPr/>
        </p:nvSpPr>
        <p:spPr>
          <a:xfrm>
            <a:off x="7620000" y="4546600"/>
            <a:ext cx="3657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>
              <a:buNone/>
            </a:pPr>
            <a:r>
              <a:rPr lang="zh-CN" altLang="en-US" sz="1400" b="0" dirty="0">
                <a:solidFill>
                  <a:srgbClr val="F2EFE8"/>
                </a:solidFill>
              </a:rPr>
              <a:t>先体验我做的 WordSnap：</a:t>
            </a:r>
          </a:p>
        </p:txBody>
      </p:sp>
      <p:sp>
        <p:nvSpPr>
          <p:cNvPr id="61" name="URL 61"/>
          <p:cNvSpPr txBox="1"/>
          <p:nvPr/>
        </p:nvSpPr>
        <p:spPr>
          <a:xfrm>
            <a:off x="7620000" y="4876800"/>
            <a:ext cx="36576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</a:rPr>
              <a:t>guojiz.github.io/word-snap</a:t>
            </a:r>
          </a:p>
        </p:txBody>
      </p:sp>
    </p:spTree>
    <p:extLst>
      <p:ext uri="{BB962C8B-B14F-4D97-AF65-F5344CB8AC3E}">
        <p14:creationId xmlns:p14="http://schemas.microsoft.com/office/powerpoint/2010/main" val="994762124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GestaltVTI [1791114466322]">
  <a:themeElements>
    <a:clrScheme name="Swiss Editorial">
      <a:dk1>
        <a:srgbClr val="111111"/>
      </a:dk1>
      <a:lt1>
        <a:srgbClr val="F2EFE8"/>
      </a:lt1>
      <a:dk2>
        <a:srgbClr val="6B6862"/>
      </a:dk2>
      <a:lt2>
        <a:srgbClr val="E4DFD4"/>
      </a:lt2>
      <a:accent1>
        <a:srgbClr val="C9260A"/>
      </a:accent1>
      <a:accent2>
        <a:srgbClr val="111111"/>
      </a:accent2>
      <a:accent3>
        <a:srgbClr val="6B6862"/>
      </a:accent3>
      <a:accent4>
        <a:srgbClr val="A39E93"/>
      </a:accent4>
      <a:accent5>
        <a:srgbClr val="CFC9BD"/>
      </a:accent5>
      <a:accent6>
        <a:srgbClr val="B8270C"/>
      </a:accent6>
      <a:hlink>
        <a:srgbClr val="C9260A"/>
      </a:hlink>
      <a:folHlink>
        <a:srgbClr val="6B6862"/>
      </a:folHlink>
    </a:clrScheme>
    <a:fontScheme name="Gestalt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950B244-E371-CE4E-9E4D-2F095C6C9817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c66c0c38-06a4-4571-8d0a-017918db957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2674</Words>
  <Application>Microsoft Macintosh PowerPoint</Application>
  <PresentationFormat>宽屏</PresentationFormat>
  <Paragraphs>244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等线</vt:lpstr>
      <vt:lpstr>Arial</vt:lpstr>
      <vt:lpstr>Consolas</vt:lpstr>
      <vt:lpstr>GestaltVTI [1791114466322]</vt:lpstr>
      <vt:lpstr>不止复制粘贴 用 AI 开发</vt:lpstr>
      <vt:lpstr>懒得学 C++，就让 GPT 替我写</vt:lpstr>
      <vt:lpstr>两个小时候的问题，把我带进了网络和逆向</vt:lpstr>
      <vt:lpstr>两条线，相辅相成</vt:lpstr>
      <vt:lpstr>内网：一个网里，设备互相可见</vt:lpstr>
      <vt:lpstr>逆向工程：读懂没源码的程序</vt:lpstr>
      <vt:lpstr>内网穿透：从外面连回内网</vt:lpstr>
      <vt:lpstr>为什么要 Proxy / VPN</vt:lpstr>
      <vt:lpstr>代理的两个维度</vt:lpstr>
      <vt:lpstr>开源项目：GitHub</vt:lpstr>
      <vt:lpstr>从复制粘贴到 Harness</vt:lpstr>
      <vt:lpstr>这是我真实的开发环境：几个 AI 同时在干活</vt:lpstr>
      <vt:lpstr>两条线， 合成一条路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己正 郭</dc:creator>
  <cp:lastModifiedBy>己正 郭</cp:lastModifiedBy>
  <cp:revision>6</cp:revision>
  <dcterms:created xsi:type="dcterms:W3CDTF">2026-10-04T09:27:26Z</dcterms:created>
  <dcterms:modified xsi:type="dcterms:W3CDTF">2026-10-04T15:50:29Z</dcterms:modified>
</cp:coreProperties>
</file>